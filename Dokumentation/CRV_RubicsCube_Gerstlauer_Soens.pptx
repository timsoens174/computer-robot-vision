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63" r:id="rId10"/>
    <p:sldId id="280" r:id="rId11"/>
    <p:sldId id="264" r:id="rId12"/>
    <p:sldId id="273" r:id="rId13"/>
    <p:sldId id="265" r:id="rId14"/>
    <p:sldId id="266" r:id="rId15"/>
    <p:sldId id="275" r:id="rId16"/>
    <p:sldId id="274" r:id="rId17"/>
    <p:sldId id="268" r:id="rId18"/>
    <p:sldId id="285" r:id="rId19"/>
    <p:sldId id="287" r:id="rId20"/>
    <p:sldId id="286" r:id="rId21"/>
    <p:sldId id="276" r:id="rId22"/>
    <p:sldId id="270" r:id="rId23"/>
  </p:sldIdLst>
  <p:sldSz cx="12192000" cy="6858000"/>
  <p:notesSz cx="12192000" cy="6858000"/>
  <p:defaultTextStyle>
    <a:defPPr lvl="0">
      <a:defRPr lang="de-DE"/>
    </a:defPPr>
    <a:lvl1pPr marL="0" lv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A4EB"/>
    <a:srgbClr val="1691DC"/>
    <a:srgbClr val="1B0EBE"/>
    <a:srgbClr val="007296"/>
    <a:srgbClr val="1B79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 autoAdjust="0"/>
    <p:restoredTop sz="94660" autoAdjust="0"/>
  </p:normalViewPr>
  <p:slideViewPr>
    <p:cSldViewPr snapToGrid="0">
      <p:cViewPr varScale="1">
        <p:scale>
          <a:sx n="140" d="100"/>
          <a:sy n="140" d="100"/>
        </p:scale>
        <p:origin x="978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392F0-C36D-4E24-B0D3-6CE759675F96}" type="datetimeFigureOut">
              <a:rPr lang="de-DE" smtClean="0"/>
              <a:t>14.01.2025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F8426-9F69-4D52-B249-5DB4AA5F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054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46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B5FCE-A86C-9058-BA01-EBEF4CD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10C657-49B4-ECB8-F293-4839FF8D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07328-4B06-FA9A-6522-B659E29E7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BBE34-0AB7-28AC-03AD-FCC7B0540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779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/Unter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sp>
        <p:nvSpPr>
          <p:cNvPr id="10" name="Fußzeilenplatzhalter 9"/>
          <p:cNvSpPr>
            <a:spLocks noGrp="1"/>
          </p:cNvSpPr>
          <p:nvPr>
            <p:ph type="ftr" sz="quarter" idx="17"/>
          </p:nvPr>
        </p:nvSpPr>
        <p:spPr bwMode="auto">
          <a:xfrm>
            <a:off x="406401" y="6984001"/>
            <a:ext cx="7375299" cy="216000"/>
          </a:xfrm>
        </p:spPr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 bwMode="auto">
          <a:xfrm>
            <a:off x="9883778" y="6984001"/>
            <a:ext cx="1899711" cy="216000"/>
          </a:xfrm>
        </p:spPr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2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22" name="Vertikaler Textplatzhalter 2"/>
          <p:cNvSpPr>
            <a:spLocks noGrp="1"/>
          </p:cNvSpPr>
          <p:nvPr>
            <p:ph type="body" orient="vert" idx="19" hasCustomPrompt="1"/>
          </p:nvPr>
        </p:nvSpPr>
        <p:spPr bwMode="auto"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Thema des Referats Thema des Referats Thema des Referats Thema des Referats </a:t>
            </a:r>
            <a:endParaRPr/>
          </a:p>
        </p:txBody>
      </p:sp>
      <p:sp>
        <p:nvSpPr>
          <p:cNvPr id="23" name="Vertikaler Textplatzhalter 2"/>
          <p:cNvSpPr>
            <a:spLocks noGrp="1"/>
          </p:cNvSpPr>
          <p:nvPr>
            <p:ph type="body" orient="vert" idx="20" hasCustomPrompt="1"/>
          </p:nvPr>
        </p:nvSpPr>
        <p:spPr bwMode="auto"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9pPr>
          </a:lstStyle>
          <a:p>
            <a:pPr>
              <a:defRPr/>
            </a:pPr>
            <a:r>
              <a:rPr lang="de-DE" dirty="0"/>
              <a:t>Systems Engineering Management |   Automotive Systems Engineering HHN   |   WS23/24</a:t>
            </a:r>
          </a:p>
        </p:txBody>
      </p: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21" hasCustomPrompt="1"/>
          </p:nvPr>
        </p:nvSpPr>
        <p:spPr bwMode="auto">
          <a:xfrm>
            <a:off x="1152000" y="4904882"/>
            <a:ext cx="128025" cy="20484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13" hasCustomPrompt="1"/>
          </p:nvPr>
        </p:nvSpPr>
        <p:spPr bwMode="auto">
          <a:xfrm>
            <a:off x="1026073" y="4914407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 INSTITUTS-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  <a:endParaRPr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-359999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/>
          <p:cNvSpPr>
            <a:spLocks noGrp="1" noChangeAspect="1"/>
          </p:cNvSpPr>
          <p:nvPr>
            <p:ph type="body" orient="vert" idx="20" hasCustomPrompt="1"/>
          </p:nvPr>
        </p:nvSpPr>
        <p:spPr bwMode="auto">
          <a:xfrm>
            <a:off x="1026000" y="4914405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17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1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22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7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8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9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/>
          <p:cNvPicPr/>
          <p:nvPr userDrawn="1"/>
        </p:nvPicPr>
        <p:blipFill>
          <a:blip r:embed="rId4"/>
          <a:stretch/>
        </p:blipFill>
        <p:spPr bwMode="auto"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wischen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ZWISCHENTITEL TRENNERSEITE</a:t>
            </a:r>
            <a:endParaRPr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Zusatz Info</a:t>
            </a:r>
            <a:endParaRPr/>
          </a:p>
        </p:txBody>
      </p:sp>
      <p:grpSp>
        <p:nvGrpSpPr>
          <p:cNvPr id="14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6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7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9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pic>
        <p:nvPicPr>
          <p:cNvPr id="23" name="Pfeil"/>
          <p:cNvPicPr/>
          <p:nvPr userDrawn="1"/>
        </p:nvPicPr>
        <p:blipFill>
          <a:blip r:embed="rId4"/>
          <a:stretch/>
        </p:blipFill>
        <p:spPr bwMode="auto">
          <a:xfrm>
            <a:off x="1206000" y="2376000"/>
            <a:ext cx="180000" cy="28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 bwMode="auto"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  <a:p>
            <a:pPr lvl="7">
              <a:defRPr/>
            </a:pPr>
            <a:r>
              <a:rPr lang="de-DE"/>
              <a:t>Achte Ebene</a:t>
            </a:r>
            <a:endParaRPr/>
          </a:p>
          <a:p>
            <a:pPr lvl="8">
              <a:defRPr/>
            </a:pPr>
            <a:r>
              <a:rPr lang="de-DE"/>
              <a:t>Neunte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3 Bil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 bwMode="auto"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 bwMode="auto"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7920568" y="2097883"/>
            <a:ext cx="3862917" cy="396002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ita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" y="971550"/>
            <a:ext cx="12191999" cy="588645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 &gt;&gt; Menü &gt; Einfügen &gt; Bilder</a:t>
            </a:r>
            <a:endParaRPr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0" y="971552"/>
            <a:ext cx="12192000" cy="5886449"/>
          </a:xfrm>
          <a:prstGeom prst="rect">
            <a:avLst/>
          </a:prstGeom>
          <a:blipFill>
            <a:blip r:embed="rId2"/>
            <a:stretch/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Zitat auf erster Ebene // für Autor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Text // Listenebene erhöhen"/>
            <p:cNvSpPr txBox="1"/>
            <p:nvPr userDrawn="1"/>
          </p:nvSpPr>
          <p:spPr bwMode="auto"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9" name="Text // Listenebene verringern"/>
            <p:cNvSpPr txBox="1"/>
            <p:nvPr userDrawn="1"/>
          </p:nvSpPr>
          <p:spPr bwMode="auto"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20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/>
          </p:blipFill>
          <p:spPr bwMode="auto"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/>
          </p:blipFill>
          <p:spPr bwMode="auto"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4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6" name="Logo HHN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sp>
        <p:nvSpPr>
          <p:cNvPr id="28" name="Titel 9"/>
          <p:cNvSpPr>
            <a:spLocks noGrp="1"/>
          </p:cNvSpPr>
          <p:nvPr>
            <p:ph type="title" hasCustomPrompt="1"/>
          </p:nvPr>
        </p:nvSpPr>
        <p:spPr bwMode="auto">
          <a:xfrm>
            <a:off x="0" y="1684080"/>
            <a:ext cx="1321200" cy="1119600"/>
          </a:xfrm>
          <a:prstGeom prst="rect">
            <a:avLst/>
          </a:prstGeom>
          <a:blipFill>
            <a:blip r:embed="rId6"/>
            <a:stretch/>
          </a:blipFill>
        </p:spPr>
        <p:txBody>
          <a:bodyPr wrap="none" rIns="1454400" anchor="t" anchorCtr="0"/>
          <a:lstStyle>
            <a:lvl1pPr algn="r">
              <a:defRPr sz="1000"/>
            </a:lvl1pPr>
          </a:lstStyle>
          <a:p>
            <a:pPr>
              <a:defRPr/>
            </a:pPr>
            <a:r>
              <a:rPr lang="pt-BR"/>
              <a:t>Bitte nicht</a:t>
            </a:r>
            <a:br>
              <a:rPr lang="pt-BR"/>
            </a:br>
            <a:r>
              <a:rPr lang="pt-BR"/>
              <a:t>verschieben</a:t>
            </a:r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2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 bwMode="auto"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chluss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de-DE"/>
              <a:t>Bei Fragen kontaktieren Sie bitte:</a:t>
            </a:r>
            <a:br>
              <a:rPr lang="de-DE"/>
            </a:br>
            <a:r>
              <a:rPr lang="de-DE"/>
              <a:t>Vorname Nachname (Menü &gt; Listenebne erhöhen)</a:t>
            </a:r>
            <a:br>
              <a:rPr lang="de-DE"/>
            </a:br>
            <a:r>
              <a:rPr lang="de-DE"/>
              <a:t>Fakultät XY | Fachrichtung </a:t>
            </a:r>
            <a:br>
              <a:rPr lang="de-DE"/>
            </a:br>
            <a:r>
              <a:rPr lang="de-DE"/>
              <a:t>meike.muster@hs-heilbronn.de</a:t>
            </a:r>
            <a:endParaRPr/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 bwMode="auto"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3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Schlusswort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 bwMode="auto"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3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4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5" name="Text // Listenebene erhöhen"/>
            <p:cNvSpPr txBox="1"/>
            <p:nvPr userDrawn="1"/>
          </p:nvSpPr>
          <p:spPr bwMode="auto"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6" name="Text // Listenebene verringern"/>
            <p:cNvSpPr txBox="1"/>
            <p:nvPr userDrawn="1"/>
          </p:nvSpPr>
          <p:spPr bwMode="auto"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17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/>
          </p:blipFill>
          <p:spPr bwMode="auto">
            <a:xfrm>
              <a:off x="-544788" y="3267934"/>
              <a:ext cx="385762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/>
          </p:blipFill>
          <p:spPr bwMode="auto">
            <a:xfrm>
              <a:off x="-544788" y="2871934"/>
              <a:ext cx="385762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 bwMode="auto"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1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cxnSp>
        <p:nvCxnSpPr>
          <p:cNvPr id="12" name="Footerlinie"/>
          <p:cNvCxnSpPr>
            <a:cxnSpLocks/>
          </p:cNvCxnSpPr>
          <p:nvPr/>
        </p:nvCxnSpPr>
        <p:spPr bwMode="auto"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>
            <a:cxnSpLocks/>
          </p:cNvCxnSpPr>
          <p:nvPr/>
        </p:nvCxnSpPr>
        <p:spPr bwMode="auto">
          <a:xfrm>
            <a:off x="407997" y="1379378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auto">
          <a:xfrm>
            <a:off x="406405" y="898525"/>
            <a:ext cx="11377084" cy="4808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pt-BR"/>
              <a:t>Headline einfügen über zwei Zeilen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6402" y="1489921"/>
            <a:ext cx="11377084" cy="4753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>
              <a:defRPr/>
            </a:pPr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  <a:endParaRPr dirty="0"/>
          </a:p>
          <a:p>
            <a:pPr lvl="1">
              <a:defRPr/>
            </a:pPr>
            <a:r>
              <a:rPr lang="de-DE" dirty="0"/>
              <a:t>Zweite Ebene</a:t>
            </a:r>
            <a:endParaRPr dirty="0"/>
          </a:p>
          <a:p>
            <a:pPr lvl="2">
              <a:defRPr/>
            </a:pPr>
            <a:r>
              <a:rPr lang="de-DE" dirty="0"/>
              <a:t>Dritte Ebene</a:t>
            </a:r>
            <a:endParaRPr dirty="0"/>
          </a:p>
          <a:p>
            <a:pPr lvl="3">
              <a:defRPr/>
            </a:pPr>
            <a:r>
              <a:rPr lang="de-DE" dirty="0"/>
              <a:t>Vierte Ebene</a:t>
            </a:r>
            <a:endParaRPr dirty="0"/>
          </a:p>
          <a:p>
            <a:pPr lvl="4">
              <a:defRPr/>
            </a:pPr>
            <a:r>
              <a:rPr lang="de-DE" dirty="0"/>
              <a:t>Fünfte Ebene</a:t>
            </a:r>
            <a:endParaRPr dirty="0"/>
          </a:p>
          <a:p>
            <a:pPr lvl="5">
              <a:defRPr/>
            </a:pPr>
            <a:r>
              <a:rPr lang="de-DE" dirty="0"/>
              <a:t>Sechste Ebene</a:t>
            </a:r>
            <a:endParaRPr dirty="0"/>
          </a:p>
          <a:p>
            <a:pPr lvl="6">
              <a:defRPr/>
            </a:pPr>
            <a:r>
              <a:rPr lang="de-DE" dirty="0"/>
              <a:t>Siebte Ebene</a:t>
            </a:r>
            <a:endParaRPr dirty="0"/>
          </a:p>
          <a:p>
            <a:pPr lvl="7">
              <a:defRPr/>
            </a:pPr>
            <a:r>
              <a:rPr lang="de-DE" dirty="0"/>
              <a:t>Achte Ebene</a:t>
            </a:r>
            <a:endParaRPr dirty="0"/>
          </a:p>
          <a:p>
            <a:pPr lvl="8">
              <a:defRPr/>
            </a:pPr>
            <a:r>
              <a:rPr lang="de-DE" dirty="0"/>
              <a:t>Neunte Ebene</a:t>
            </a:r>
            <a:endParaRPr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1" spc="4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9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 spc="4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9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pic>
        <p:nvPicPr>
          <p:cNvPr id="22" name="Logo HHN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marL="0" indent="0" algn="l" defTabSz="914407">
        <a:lnSpc>
          <a:spcPct val="94000"/>
        </a:lnSpc>
        <a:spcBef>
          <a:spcPts val="0"/>
        </a:spcBef>
        <a:buFont typeface="Arial"/>
        <a:buNone/>
        <a:defRPr sz="3000" b="1" cap="all" spc="12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>
        <a:lnSpc>
          <a:spcPct val="105000"/>
        </a:lnSpc>
        <a:spcBef>
          <a:spcPts val="0"/>
        </a:spcBef>
        <a:spcAft>
          <a:spcPts val="1999"/>
        </a:spcAft>
        <a:buFont typeface="Arial"/>
        <a:buNone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>
        <a:lnSpc>
          <a:spcPct val="105000"/>
        </a:lnSpc>
        <a:spcBef>
          <a:spcPts val="599"/>
        </a:spcBef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>
        <a:lnSpc>
          <a:spcPct val="108000"/>
        </a:lnSpc>
        <a:spcBef>
          <a:spcPts val="130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1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>
        <a:lnSpc>
          <a:spcPct val="108000"/>
        </a:lnSpc>
        <a:spcBef>
          <a:spcPts val="0"/>
        </a:spcBef>
        <a:spcAft>
          <a:spcPts val="0"/>
        </a:spcAft>
        <a:buFont typeface="Wingdings"/>
        <a:buChar char="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CDD79D12-DF61-C715-5714-4701D4C7021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3922" t="26095" r="5302" b="33909"/>
          <a:stretch/>
        </p:blipFill>
        <p:spPr>
          <a:xfrm>
            <a:off x="0" y="1074521"/>
            <a:ext cx="12465269" cy="6069866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A0F667E-E32B-0BB5-A9BD-8A0DE2C02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Computer and Robot vision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64D300-9D4D-0CB5-B80C-F2D6F45AD7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4BD7C-26A6-8E91-1584-F2F481914B2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306490E-974A-457A-2225-87B89D12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7" name="Vertikaler Textplatzhalter 6">
            <a:extLst>
              <a:ext uri="{FF2B5EF4-FFF2-40B4-BE49-F238E27FC236}">
                <a16:creationId xmlns:a16="http://schemas.microsoft.com/office/drawing/2014/main" id="{97D6974A-CF9D-E8AB-0562-065B3A50CC03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Rubik's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Cube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detektion</a:t>
            </a:r>
            <a:endParaRPr lang="de-DE" dirty="0"/>
          </a:p>
        </p:txBody>
      </p:sp>
      <p:sp>
        <p:nvSpPr>
          <p:cNvPr id="8" name="Vertikaler Textplatzhalter 7">
            <a:extLst>
              <a:ext uri="{FF2B5EF4-FFF2-40B4-BE49-F238E27FC236}">
                <a16:creationId xmlns:a16="http://schemas.microsoft.com/office/drawing/2014/main" id="{31CFA1F8-9BA0-3AC6-8C0B-39B8807EC2E5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dirty="0"/>
              <a:t>Computer and Robot Vision | Automotive Systems Engineering |  WS 24/25</a:t>
            </a:r>
            <a:endParaRPr lang="de-DE" dirty="0"/>
          </a:p>
          <a:p>
            <a:endParaRPr lang="de-DE" dirty="0"/>
          </a:p>
        </p:txBody>
      </p:sp>
      <p:sp>
        <p:nvSpPr>
          <p:cNvPr id="9" name="Vertikaler Textplatzhalter 8">
            <a:extLst>
              <a:ext uri="{FF2B5EF4-FFF2-40B4-BE49-F238E27FC236}">
                <a16:creationId xmlns:a16="http://schemas.microsoft.com/office/drawing/2014/main" id="{4C4C5B4F-DAE4-6E6F-081C-4C1DACDE69AE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7427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14786C-336F-BE29-1C3C-762A0F7A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2783DE-E67C-50D6-7DAD-22A2CC064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C2A17C-EA7E-E724-B96D-C1128753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2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5309719-9E04-16BA-1447-EFA3C663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2F096B-D306-4D40-549F-312BE9C5AF0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Project </a:t>
            </a:r>
            <a:r>
              <a:rPr lang="en-GB" noProof="0" dirty="0"/>
              <a:t>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Challenges </a:t>
            </a:r>
            <a:r>
              <a:rPr lang="en-GB" noProof="0" dirty="0"/>
              <a:t>of</a:t>
            </a:r>
            <a:r>
              <a:rPr lang="en-GB" dirty="0"/>
              <a:t>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Process 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Demo-picture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Demo-live</a:t>
            </a:r>
          </a:p>
        </p:txBody>
      </p:sp>
    </p:spTree>
    <p:extLst>
      <p:ext uri="{BB962C8B-B14F-4D97-AF65-F5344CB8AC3E}">
        <p14:creationId xmlns:p14="http://schemas.microsoft.com/office/powerpoint/2010/main" val="196684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44BCDF-56E2-6206-B0E5-5AEDAFC9F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8BAC48-D40B-166E-D4C1-064D9C4B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6A998F-925E-76E4-4B16-FE72311E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AC84E6A-5F31-0E03-0237-3D395AF7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6DE176-A64B-4B79-8994-AB199D246C9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689595" cy="4210049"/>
          </a:xfrm>
        </p:spPr>
        <p:txBody>
          <a:bodyPr/>
          <a:lstStyle/>
          <a:p>
            <a:r>
              <a:rPr lang="en-GB" b="1" dirty="0"/>
              <a:t>The aim is to recognize the 9 coloured squares of a Rubik's cube under different lighting conditions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7B7069AF-22B4-9436-C5E8-E05FDC91174E}"/>
              </a:ext>
            </a:extLst>
          </p:cNvPr>
          <p:cNvSpPr txBox="1">
            <a:spLocks/>
          </p:cNvSpPr>
          <p:nvPr/>
        </p:nvSpPr>
        <p:spPr bwMode="auto">
          <a:xfrm>
            <a:off x="406404" y="1308810"/>
            <a:ext cx="5689595" cy="4210049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407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/>
              <a:buNone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1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/>
              <a:buChar char="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Experimental </a:t>
            </a:r>
            <a:r>
              <a:rPr lang="de-DE" dirty="0" err="1"/>
              <a:t>setup</a:t>
            </a:r>
            <a:r>
              <a:rPr lang="de-DE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Rubiks </a:t>
            </a:r>
            <a:r>
              <a:rPr lang="de-DE" dirty="0" err="1"/>
              <a:t>cube</a:t>
            </a:r>
            <a:r>
              <a:rPr lang="de-DE" dirty="0"/>
              <a:t> in </a:t>
            </a:r>
            <a:r>
              <a:rPr lang="de-DE" dirty="0" err="1"/>
              <a:t>grey</a:t>
            </a:r>
            <a:r>
              <a:rPr lang="de-DE" dirty="0"/>
              <a:t> socket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LED-</a:t>
            </a:r>
            <a:r>
              <a:rPr lang="de-DE" dirty="0" err="1"/>
              <a:t>Lightsource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Webcam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9EFBEF4-ED52-8661-D530-5886EC36F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r="31264"/>
          <a:stretch/>
        </p:blipFill>
        <p:spPr>
          <a:xfrm rot="5400000">
            <a:off x="6286551" y="1778110"/>
            <a:ext cx="4794031" cy="41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9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BE5E7D-EFAB-E715-864A-E749F76F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E1349-804E-6989-BDE6-56280938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5DC5DF-2EBF-5880-C696-A25CBD37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0F91674-104E-5C53-0E82-E514FAEC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Challanges</a:t>
            </a: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A33D61-1EA4-E58F-F80C-DFBA92FF0D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514657" cy="42100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Due to the smooth surface of the cube there a many reflections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webcam isn‘t mounted in the </a:t>
            </a:r>
            <a:r>
              <a:rPr lang="en-GB" dirty="0" err="1"/>
              <a:t>center</a:t>
            </a:r>
            <a:r>
              <a:rPr lang="en-GB" dirty="0"/>
              <a:t> of the LED circle which </a:t>
            </a:r>
            <a:r>
              <a:rPr lang="en-GB" dirty="0" err="1"/>
              <a:t>interfers</a:t>
            </a:r>
            <a:r>
              <a:rPr lang="en-GB" dirty="0"/>
              <a:t> with the exposure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correction is limited to small changes in the lighting conditions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8D0A6D-D3AB-9378-68FA-DC27A053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405" t="28659" r="36811" b="17962"/>
          <a:stretch/>
        </p:blipFill>
        <p:spPr>
          <a:xfrm>
            <a:off x="7294178" y="2469930"/>
            <a:ext cx="4240925" cy="366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6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67401F-005C-1214-FC8D-809CD9D2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en-GB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DFFCF3E-31FC-EEC9-7C25-8F6F6201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1C8E6B-38C8-5DFA-1E9A-69C89B4A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|  </a:t>
            </a:r>
            <a:fld id="{E6B5151A-17C4-4431-8407-112C0160A8B6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71F175-58DA-2A7F-93C1-39D199EA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- Flow Chart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16378E8-EB8C-ADA3-3DBA-892DBB089734}"/>
              </a:ext>
            </a:extLst>
          </p:cNvPr>
          <p:cNvSpPr/>
          <p:nvPr/>
        </p:nvSpPr>
        <p:spPr bwMode="auto">
          <a:xfrm>
            <a:off x="222378" y="3171965"/>
            <a:ext cx="1249679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Read in Picture/ Frame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863D028-EAEF-48F2-D74F-D0F53D0DF707}"/>
              </a:ext>
            </a:extLst>
          </p:cNvPr>
          <p:cNvSpPr/>
          <p:nvPr/>
        </p:nvSpPr>
        <p:spPr bwMode="auto">
          <a:xfrm>
            <a:off x="10664325" y="3171958"/>
            <a:ext cx="1249680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Visualize results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97EF483-A10A-66D8-96F9-87F93380FDB0}"/>
              </a:ext>
            </a:extLst>
          </p:cNvPr>
          <p:cNvSpPr/>
          <p:nvPr/>
        </p:nvSpPr>
        <p:spPr bwMode="auto">
          <a:xfrm>
            <a:off x="1738758" y="3201929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grey box and crop to ROI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007C83F-DDCB-FD8E-9759-C2298255786B}"/>
              </a:ext>
            </a:extLst>
          </p:cNvPr>
          <p:cNvSpPr/>
          <p:nvPr/>
        </p:nvSpPr>
        <p:spPr bwMode="auto">
          <a:xfrm>
            <a:off x="3235835" y="3201924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/>
              <a:t>Color</a:t>
            </a:r>
            <a:r>
              <a:rPr lang="en-GB" sz="1200" dirty="0"/>
              <a:t> correction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A53535-A0C6-EF8E-3C9E-D74CE181D41C}"/>
              </a:ext>
            </a:extLst>
          </p:cNvPr>
          <p:cNvSpPr/>
          <p:nvPr/>
        </p:nvSpPr>
        <p:spPr bwMode="auto">
          <a:xfrm>
            <a:off x="4732912" y="2117686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Edge Detection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21B7708-4801-4A52-2FC9-129FEE871550}"/>
              </a:ext>
            </a:extLst>
          </p:cNvPr>
          <p:cNvSpPr/>
          <p:nvPr/>
        </p:nvSpPr>
        <p:spPr bwMode="auto">
          <a:xfrm>
            <a:off x="4732912" y="4237571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</a:t>
            </a:r>
            <a:r>
              <a:rPr lang="en-GB" sz="1200" dirty="0" err="1"/>
              <a:t>color</a:t>
            </a:r>
            <a:r>
              <a:rPr lang="en-GB" sz="1200" dirty="0"/>
              <a:t> filter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3E31C1E-C7BF-9828-063C-ACB3DD020BF1}"/>
              </a:ext>
            </a:extLst>
          </p:cNvPr>
          <p:cNvSpPr/>
          <p:nvPr/>
        </p:nvSpPr>
        <p:spPr bwMode="auto">
          <a:xfrm>
            <a:off x="6229989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Merging of findings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6FD3EF-CAEF-1340-F6ED-731FF450B8A2}"/>
              </a:ext>
            </a:extLst>
          </p:cNvPr>
          <p:cNvSpPr/>
          <p:nvPr/>
        </p:nvSpPr>
        <p:spPr bwMode="auto">
          <a:xfrm>
            <a:off x="7727066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Compensate not detected segments via geometry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0F51FBD-551F-0AB7-AEE6-EAA2A06EAF5B}"/>
              </a:ext>
            </a:extLst>
          </p:cNvPr>
          <p:cNvSpPr/>
          <p:nvPr/>
        </p:nvSpPr>
        <p:spPr bwMode="auto">
          <a:xfrm>
            <a:off x="9224144" y="3201922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Add </a:t>
            </a:r>
            <a:r>
              <a:rPr lang="en-GB" sz="1200" dirty="0" err="1"/>
              <a:t>color</a:t>
            </a:r>
            <a:r>
              <a:rPr lang="en-GB" sz="1200" dirty="0"/>
              <a:t> information if needed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BA41B0-BDB9-DBEE-3F7A-6DA593A9F040}"/>
              </a:ext>
            </a:extLst>
          </p:cNvPr>
          <p:cNvCxnSpPr>
            <a:stCxn id="7" idx="3"/>
            <a:endCxn id="17" idx="1"/>
          </p:cNvCxnSpPr>
          <p:nvPr/>
        </p:nvCxnSpPr>
        <p:spPr bwMode="auto">
          <a:xfrm>
            <a:off x="1472057" y="3615929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633A4-F9F9-000D-94AF-D770E0B7549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 bwMode="auto">
          <a:xfrm flipV="1">
            <a:off x="2912238" y="3615924"/>
            <a:ext cx="323597" cy="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BDE9562-688C-206E-70DE-DDCE5FB6C22E}"/>
              </a:ext>
            </a:extLst>
          </p:cNvPr>
          <p:cNvCxnSpPr>
            <a:stCxn id="19" idx="3"/>
            <a:endCxn id="20" idx="1"/>
          </p:cNvCxnSpPr>
          <p:nvPr/>
        </p:nvCxnSpPr>
        <p:spPr bwMode="auto">
          <a:xfrm flipV="1">
            <a:off x="4409315" y="2531686"/>
            <a:ext cx="323597" cy="108423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60A595B-3CDF-2A71-188D-9F15825E42C1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 bwMode="auto">
          <a:xfrm>
            <a:off x="4409315" y="3615924"/>
            <a:ext cx="323597" cy="103564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D88AE02-6E18-A27E-B163-C9311CA3A3E2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 bwMode="auto">
          <a:xfrm>
            <a:off x="5906392" y="2531686"/>
            <a:ext cx="323597" cy="108423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4441487-C7FE-D877-A083-9D042C5E88B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 bwMode="auto">
          <a:xfrm flipV="1">
            <a:off x="5906392" y="3615923"/>
            <a:ext cx="323597" cy="10356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BD04222-2D48-E63F-01A7-84690A8ADB6A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 bwMode="auto">
          <a:xfrm>
            <a:off x="7403469" y="3615923"/>
            <a:ext cx="323597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50FF425-9D16-38AE-B525-8725CB31B71F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 bwMode="auto">
          <a:xfrm flipV="1">
            <a:off x="8900546" y="3615922"/>
            <a:ext cx="3235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B1CDF1E-AE51-2300-F1DE-36B7F28F4BB8}"/>
              </a:ext>
            </a:extLst>
          </p:cNvPr>
          <p:cNvCxnSpPr>
            <a:cxnSpLocks/>
            <a:stCxn id="24" idx="3"/>
            <a:endCxn id="16" idx="1"/>
          </p:cNvCxnSpPr>
          <p:nvPr/>
        </p:nvCxnSpPr>
        <p:spPr bwMode="auto">
          <a:xfrm>
            <a:off x="10397624" y="3615922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48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6873A4-3B48-5F4A-8C70-9933AC45A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EBD52-C745-CA91-A0C6-073C6B63C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4FC9A2-5BE3-BBD1-ABAD-B6809CB4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34E4AFC-6595-F388-E1FB-64ACDD86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grey frame detection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4C78EFA-84AA-DCB4-C76B-68F2DA7E3C4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9816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Smoothing with bilateral filter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Edge detection with Canny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Closing of edges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Search for largest square contour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Reduce size of outer contour by 5%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inner contour by reducing size of outer contour by 10%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563D573-ED5F-6BBA-1E31-9D2C8DA66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104" y="1506747"/>
            <a:ext cx="4617245" cy="469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0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A17A-1822-CF4C-066F-2F141AC2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9CE787-FD08-F6E2-3E69-7A59DE4D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A58967-5EF7-80F8-DDD8-4BBAE01EB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2BF9F-9AC8-5188-2197-D23A0A46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0071C42-EC04-F767-EBA3-4DCF5E0F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GB" b="1" dirty="0"/>
                  <a:t>Calibration to get </a:t>
                </a:r>
                <a:r>
                  <a:rPr lang="en-GB" b="1" dirty="0" err="1"/>
                  <a:t>color</a:t>
                </a:r>
                <a:r>
                  <a:rPr lang="en-GB" b="1" dirty="0"/>
                  <a:t> conditions of Ground Truth:</a:t>
                </a:r>
              </a:p>
              <a:p>
                <a:r>
                  <a:rPr lang="en-GB" dirty="0"/>
                  <a:t>Ground Truth: </a:t>
                </a:r>
                <a:r>
                  <a:rPr lang="en-GB" dirty="0" err="1"/>
                  <a:t>Color</a:t>
                </a:r>
                <a:r>
                  <a:rPr lang="en-GB" dirty="0"/>
                  <a:t> values of test image, </a:t>
                </a:r>
                <a:r>
                  <a:rPr lang="en-GB" dirty="0" err="1"/>
                  <a:t>color</a:t>
                </a:r>
                <a:r>
                  <a:rPr lang="en-GB" dirty="0"/>
                  <a:t> thresholds based on that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Get RGB-values of grey frame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Calculate correction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Recalibrate image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01" t="-23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021F776-F5D4-7AB0-5A1B-59AA4471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903" y="3608136"/>
            <a:ext cx="4857786" cy="18002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4ADFCB3-6846-8C58-39B5-226ABD010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979" y="5312619"/>
            <a:ext cx="4829210" cy="10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9664-0E46-F7EA-A351-ADB5D3FD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6968B5-AC15-7485-60DB-7A53A959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88D1A0-F59D-760E-6D9D-E3807391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31C93-4F93-A899-2E02-057C2BE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4471FCB-261A-D64D-36C0-401D276C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F49F3AC-64CB-819E-5231-8AA70039BCAC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379247" y="2220078"/>
            <a:ext cx="3983419" cy="3958472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B4098A2-EE12-DB1E-AEEA-B6A63EDF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13" y="2165350"/>
            <a:ext cx="4070839" cy="401319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64D511C-67DC-8B8B-A539-E80E6B0F993A}"/>
              </a:ext>
            </a:extLst>
          </p:cNvPr>
          <p:cNvSpPr txBox="1"/>
          <p:nvPr/>
        </p:nvSpPr>
        <p:spPr>
          <a:xfrm>
            <a:off x="1595237" y="1796018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19C006A-50B2-52BF-FFFE-9D68FF6DC578}"/>
              </a:ext>
            </a:extLst>
          </p:cNvPr>
          <p:cNvSpPr txBox="1"/>
          <p:nvPr/>
        </p:nvSpPr>
        <p:spPr>
          <a:xfrm>
            <a:off x="6948287" y="1716041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After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161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B924-40CF-ACA3-9BDC-02659699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FECE3C-4F88-3558-A3C8-5CAFF339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A70751-DC2C-6193-8234-91455311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C09959-27D4-5EA9-FB55-1F1545D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0D558FC-E672-8013-945E-517FE62B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358F89-8312-F254-A50C-EA4B0F05F60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0070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Transform </a:t>
            </a:r>
            <a:r>
              <a:rPr lang="de-DE" dirty="0" err="1"/>
              <a:t>image</a:t>
            </a:r>
            <a:r>
              <a:rPr lang="de-DE" dirty="0"/>
              <a:t> in HSV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thesholds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size</a:t>
            </a:r>
            <a:r>
              <a:rPr lang="de-DE" dirty="0"/>
              <a:t>, </a:t>
            </a:r>
            <a:r>
              <a:rPr lang="de-DE" dirty="0" err="1"/>
              <a:t>filling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, </a:t>
            </a:r>
            <a:r>
              <a:rPr lang="de-DE" dirty="0" err="1"/>
              <a:t>squareness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attributes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0A00B0-CC56-CFD8-EAB6-B444C8EB83C5}"/>
              </a:ext>
            </a:extLst>
          </p:cNvPr>
          <p:cNvPicPr>
            <a:picLocks/>
          </p:cNvPicPr>
          <p:nvPr/>
        </p:nvPicPr>
        <p:blipFill>
          <a:blip r:embed="rId3"/>
          <a:srcRect l="11666" b="3306"/>
          <a:stretch/>
        </p:blipFill>
        <p:spPr>
          <a:xfrm>
            <a:off x="6413500" y="2305050"/>
            <a:ext cx="5547552" cy="365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FCE0A-432B-0F38-A438-20CCA87A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44B3DF-E37B-D095-AA50-66C4F2CB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286DD3-77A7-60DE-FBAC-4CCB7A60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A2C7DD-683A-949E-5394-C9F2082E5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04681F6-0627-6D20-74A9-0021F1A1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1A87B833-AE42-AD6C-3570-F66AE480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27711" y="1787537"/>
            <a:ext cx="3824089" cy="380260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BC89708-011D-C7E3-E5FB-E574AFCF776D}"/>
              </a:ext>
            </a:extLst>
          </p:cNvPr>
          <p:cNvSpPr txBox="1"/>
          <p:nvPr/>
        </p:nvSpPr>
        <p:spPr>
          <a:xfrm>
            <a:off x="2983447" y="5590143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and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343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E152-F2D2-B8A0-3F5F-37820B2C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5AFAD2-0963-70F5-4E53-A62A9E83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F04CF6-D327-6043-5CB3-BEA19E7B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3B3010-05D5-C01D-7771-36D5F63F9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0F3045-E677-FCAF-4B48-A56673C6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Edge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E34449-7C41-BBF4-FA46-69796CA89E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 </a:t>
            </a:r>
            <a:r>
              <a:rPr lang="de-DE" dirty="0" err="1"/>
              <a:t>pixels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Find </a:t>
            </a:r>
            <a:r>
              <a:rPr lang="de-DE" dirty="0" err="1"/>
              <a:t>contours</a:t>
            </a:r>
            <a:r>
              <a:rPr lang="de-DE" dirty="0"/>
              <a:t> in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contour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ECA3EA-735D-A121-B87F-90ED682DC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52" y="1676384"/>
            <a:ext cx="4243398" cy="42036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685DE71-6CDC-0FCB-6B0D-D54AEAD25437}"/>
              </a:ext>
            </a:extLst>
          </p:cNvPr>
          <p:cNvSpPr txBox="1"/>
          <p:nvPr/>
        </p:nvSpPr>
        <p:spPr>
          <a:xfrm>
            <a:off x="6311101" y="5877179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101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EF07-2B38-69DD-7352-19D2A4E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BFFD21-FD51-4672-61C3-8A2FB9D3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41C68BC-54EE-04D4-4FAF-C068B04F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03CEFE-5AF1-C694-C455-FBBE99CA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12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58C9418-7637-4585-2B93-8580825B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grid position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AC555-7016-5F0F-AF7D-731F3ADEAD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Split x-,y-</a:t>
            </a:r>
            <a:r>
              <a:rPr lang="de-DE" dirty="0" err="1"/>
              <a:t>coordinate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a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besed</a:t>
            </a:r>
            <a:r>
              <a:rPr lang="de-DE" dirty="0"/>
              <a:t> on </a:t>
            </a:r>
            <a:r>
              <a:rPr lang="de-DE" dirty="0" err="1"/>
              <a:t>mean</a:t>
            </a:r>
            <a:br>
              <a:rPr lang="de-DE" dirty="0"/>
            </a:br>
            <a:r>
              <a:rPr lang="de-DE" dirty="0" err="1"/>
              <a:t>height</a:t>
            </a:r>
            <a:r>
              <a:rPr lang="de-DE" dirty="0"/>
              <a:t>/</a:t>
            </a:r>
            <a:r>
              <a:rPr lang="de-DE" dirty="0" err="1"/>
              <a:t>width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Boundingboxes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Group </a:t>
            </a:r>
            <a:r>
              <a:rPr lang="de-DE" dirty="0" err="1"/>
              <a:t>coordinates</a:t>
            </a:r>
            <a:r>
              <a:rPr lang="de-DE" dirty="0"/>
              <a:t> in </a:t>
            </a:r>
            <a:r>
              <a:rPr lang="de-DE" dirty="0" err="1"/>
              <a:t>groups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and </a:t>
            </a:r>
            <a:r>
              <a:rPr lang="de-DE" dirty="0" err="1"/>
              <a:t>colums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group</a:t>
            </a:r>
            <a:endParaRPr lang="de-DE" dirty="0"/>
          </a:p>
          <a:p>
            <a:r>
              <a:rPr lang="de-DE" b="1" u="sng" dirty="0" err="1"/>
              <a:t>Necessary</a:t>
            </a:r>
            <a:r>
              <a:rPr lang="de-DE" b="1" u="sng" dirty="0"/>
              <a:t> </a:t>
            </a:r>
            <a:r>
              <a:rPr lang="de-DE" b="1" u="sng" dirty="0" err="1"/>
              <a:t>condition</a:t>
            </a:r>
            <a:r>
              <a:rPr lang="de-DE" b="1" u="sng" dirty="0"/>
              <a:t>:</a:t>
            </a:r>
            <a:br>
              <a:rPr lang="de-DE" dirty="0"/>
            </a:b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elemnt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row</a:t>
            </a:r>
            <a:r>
              <a:rPr lang="de-DE" dirty="0"/>
              <a:t> and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colum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D2FA1-BC19-677F-6921-A94C7732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7499350" y="2609543"/>
            <a:ext cx="3401357" cy="3349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88809C3-705A-844D-D632-7845663CF258}"/>
              </a:ext>
            </a:extLst>
          </p:cNvPr>
          <p:cNvSpPr txBox="1"/>
          <p:nvPr/>
        </p:nvSpPr>
        <p:spPr>
          <a:xfrm>
            <a:off x="7499350" y="5959475"/>
            <a:ext cx="368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Numbered grid with all fields</a:t>
            </a:r>
          </a:p>
        </p:txBody>
      </p:sp>
    </p:spTree>
    <p:extLst>
      <p:ext uri="{BB962C8B-B14F-4D97-AF65-F5344CB8AC3E}">
        <p14:creationId xmlns:p14="http://schemas.microsoft.com/office/powerpoint/2010/main" val="3052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BF3D-A210-5FCE-3CCC-05C56B89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DD443C0-739A-4D9C-1253-E2E56941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64CCC7-FC7D-E43A-E70E-F3ED1AC5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635F7A-A3C4-FB97-014D-9B21A6A3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34ACD81-3479-F125-3649-892704502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Merging of results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776260-445B-029C-76DD-83D706B9603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Iterate through the grid positions and look for entries in dictionaries: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available in both </a:t>
            </a:r>
            <a:r>
              <a:rPr lang="en-GB" dirty="0" err="1"/>
              <a:t>dicts</a:t>
            </a:r>
            <a:r>
              <a:rPr lang="en-GB" dirty="0"/>
              <a:t>: Merge with a factorized mean 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only available in one </a:t>
            </a:r>
            <a:r>
              <a:rPr lang="en-GB" dirty="0" err="1"/>
              <a:t>dict</a:t>
            </a:r>
            <a:r>
              <a:rPr lang="en-GB" dirty="0"/>
              <a:t>: Take that entry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isn‘t available in any </a:t>
            </a:r>
            <a:r>
              <a:rPr lang="en-GB" dirty="0" err="1"/>
              <a:t>dict</a:t>
            </a:r>
            <a:r>
              <a:rPr lang="en-GB" dirty="0"/>
              <a:t>: compensate through geometry</a:t>
            </a:r>
          </a:p>
          <a:p>
            <a:pPr marL="457200" indent="-457200">
              <a:buFont typeface="+mj-lt"/>
              <a:buAutoNum type="arabicPeriod"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F12D4A-F41B-8F05-A30B-1B55478F6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41" y="4336041"/>
            <a:ext cx="2082012" cy="204338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DAE0135-963A-1CC1-C8EB-704622044BA3}"/>
              </a:ext>
            </a:extLst>
          </p:cNvPr>
          <p:cNvSpPr txBox="1"/>
          <p:nvPr/>
        </p:nvSpPr>
        <p:spPr>
          <a:xfrm>
            <a:off x="2928153" y="5456097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27744DA-983B-9E4A-A33B-50E46119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334" y="4328968"/>
            <a:ext cx="2082012" cy="204692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A64EF9D-DD90-4D19-F9A6-CFFD7A8B608E}"/>
              </a:ext>
            </a:extLst>
          </p:cNvPr>
          <p:cNvSpPr txBox="1"/>
          <p:nvPr/>
        </p:nvSpPr>
        <p:spPr>
          <a:xfrm>
            <a:off x="7411253" y="5411835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761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CE20-D2B9-AEA4-2965-2A26452D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9A2329-CD43-6319-7F04-112AD8BA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313F03-A8D4-CD79-36B6-CDB00B417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4D873-290A-7F00-8F39-E33DA7DB4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115360E-FB70-9032-05E9-1DD63641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compensation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D45A6E-1665-61E6-21A1-37033EB8BF1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Mean x and y groups with three elements each</a:t>
            </a:r>
          </a:p>
          <a:p>
            <a:r>
              <a:rPr lang="en-GB" dirty="0"/>
              <a:t>Look for missing grid position and create </a:t>
            </a:r>
            <a:r>
              <a:rPr lang="en-GB" dirty="0" err="1"/>
              <a:t>dict</a:t>
            </a:r>
            <a:r>
              <a:rPr lang="en-GB" dirty="0"/>
              <a:t> entry based on centre points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FE41F69-A757-98A7-01D7-6F4E6D96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" t="35648" r="82449" b="34444"/>
          <a:stretch/>
        </p:blipFill>
        <p:spPr>
          <a:xfrm>
            <a:off x="4995914" y="3170283"/>
            <a:ext cx="2221969" cy="22428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B06C9-121F-E3C3-A6F3-1843E2CA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" t="70094" r="82397" b="1018"/>
          <a:stretch/>
        </p:blipFill>
        <p:spPr>
          <a:xfrm>
            <a:off x="1348444" y="3170285"/>
            <a:ext cx="2299026" cy="224155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2499515-3C6B-905A-68E2-EBA25D901B0A}"/>
              </a:ext>
            </a:extLst>
          </p:cNvPr>
          <p:cNvSpPr txBox="1"/>
          <p:nvPr/>
        </p:nvSpPr>
        <p:spPr>
          <a:xfrm>
            <a:off x="1232047" y="5463893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223243E-447D-A80B-1A68-C6A31EAFA277}"/>
              </a:ext>
            </a:extLst>
          </p:cNvPr>
          <p:cNvSpPr txBox="1"/>
          <p:nvPr/>
        </p:nvSpPr>
        <p:spPr>
          <a:xfrm>
            <a:off x="4921632" y="5448300"/>
            <a:ext cx="2346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59C426-6E6A-669D-DCA6-A2002D5F6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8566327" y="3169035"/>
            <a:ext cx="2277229" cy="22428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8231604-3DE5-FDA3-2F32-86D15AF826A4}"/>
              </a:ext>
            </a:extLst>
          </p:cNvPr>
          <p:cNvSpPr txBox="1"/>
          <p:nvPr/>
        </p:nvSpPr>
        <p:spPr>
          <a:xfrm>
            <a:off x="8531626" y="5463893"/>
            <a:ext cx="2612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Final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all </a:t>
            </a:r>
            <a:r>
              <a:rPr lang="de-DE" dirty="0" err="1"/>
              <a:t>objects</a:t>
            </a:r>
            <a:r>
              <a:rPr lang="de-DE" dirty="0"/>
              <a:t> (</a:t>
            </a:r>
            <a:r>
              <a:rPr lang="de-DE" dirty="0" err="1"/>
              <a:t>compensated</a:t>
            </a:r>
            <a:r>
              <a:rPr lang="de-DE" dirty="0"/>
              <a:t> </a:t>
            </a:r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tile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26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B932-08C0-673B-B4DF-3E1EF730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D9E7C61-E8F4-804E-7CA7-1CFD4F42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F808F-A7D0-B1F7-5F26-D9C36FD1D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02ECE7-DE59-E91F-0987-441B74C1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15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31BD814-CF8F-07B4-22C5-CE01ACE60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4" y="898525"/>
            <a:ext cx="11480796" cy="480853"/>
          </a:xfrm>
        </p:spPr>
        <p:txBody>
          <a:bodyPr/>
          <a:lstStyle/>
          <a:p>
            <a:r>
              <a:rPr lang="en-GB" dirty="0"/>
              <a:t>Process Description – Backwards </a:t>
            </a:r>
            <a:r>
              <a:rPr lang="en-GB" dirty="0" err="1"/>
              <a:t>color</a:t>
            </a:r>
            <a:r>
              <a:rPr lang="en-GB" dirty="0"/>
              <a:t> det.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64CA8A-10E4-0217-22C2-821C63E2EC1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4" y="2033591"/>
            <a:ext cx="11550645" cy="4210049"/>
          </a:xfrm>
        </p:spPr>
        <p:txBody>
          <a:bodyPr/>
          <a:lstStyle/>
          <a:p>
            <a:r>
              <a:rPr lang="en-GB" b="1" dirty="0" err="1"/>
              <a:t>Color</a:t>
            </a:r>
            <a:r>
              <a:rPr lang="en-GB" b="1" dirty="0"/>
              <a:t> detection if object detected by Edge detection or Compensation, not by </a:t>
            </a:r>
            <a:r>
              <a:rPr lang="en-GB" b="1" dirty="0" err="1"/>
              <a:t>color</a:t>
            </a:r>
            <a:r>
              <a:rPr lang="en-GB" b="1" dirty="0"/>
              <a:t> filtering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</a:t>
            </a:r>
            <a:r>
              <a:rPr lang="en-GB" dirty="0" err="1"/>
              <a:t>color</a:t>
            </a:r>
            <a:r>
              <a:rPr lang="en-GB" dirty="0"/>
              <a:t> values in a rectangle around the focus point of found objects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Compare to extended specified </a:t>
            </a:r>
            <a:r>
              <a:rPr lang="en-GB" dirty="0" err="1"/>
              <a:t>color</a:t>
            </a:r>
            <a:r>
              <a:rPr lang="en-GB" dirty="0"/>
              <a:t> thresholds, no more filtering by size, filling factor,…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9AE9BC8-7280-1265-3D14-9DCB457B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37"/>
          <a:stretch/>
        </p:blipFill>
        <p:spPr>
          <a:xfrm>
            <a:off x="6711734" y="4001254"/>
            <a:ext cx="2325997" cy="228032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0421D3-832C-E10D-C37D-422BAE9E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37"/>
          <a:stretch/>
        </p:blipFill>
        <p:spPr>
          <a:xfrm>
            <a:off x="1320801" y="4001254"/>
            <a:ext cx="2350448" cy="230429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E023EDB-28F5-127B-4DB8-7879F3E1E91F}"/>
              </a:ext>
            </a:extLst>
          </p:cNvPr>
          <p:cNvSpPr txBox="1"/>
          <p:nvPr/>
        </p:nvSpPr>
        <p:spPr>
          <a:xfrm>
            <a:off x="3847231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7BEFE7-44E7-D8A5-AF83-80C3D15F30AA}"/>
              </a:ext>
            </a:extLst>
          </p:cNvPr>
          <p:cNvSpPr txBox="1"/>
          <p:nvPr/>
        </p:nvSpPr>
        <p:spPr>
          <a:xfrm>
            <a:off x="9148612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Small ROIs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3009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9E16-7FAA-B59B-2A3F-B1BB1F9CC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A440EB-F1B4-FDDC-7C95-435524D29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726FFF-A9A6-3840-1649-2B37D6C3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46271-CDF4-F728-E248-491FD899E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2CA2323-D199-DF10-3E49-87252A94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Result / Output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1DD37E-1EA0-1FC5-F416-58834EEADA0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Output: Merged dictionary with nine </a:t>
            </a:r>
            <a:r>
              <a:rPr lang="en-GB" b="1" dirty="0" err="1"/>
              <a:t>entrys</a:t>
            </a:r>
            <a:r>
              <a:rPr lang="en-GB" b="1" dirty="0"/>
              <a:t> with six keys each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Bounding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 point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Grid position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Average hue 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Detected 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0B404BB-70E4-8FAC-2DC5-36A1A970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851" y="2750762"/>
            <a:ext cx="8150380" cy="35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53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C1B6-43EE-7414-4818-FF38B9A2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9858AB-21C2-8C87-9622-13F243E1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3EEB40-DFD3-05CB-3EE5-FF9FA1C3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D95432-D870-89FC-8F98-B64BCBA5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9CAC66E-6C86-3BAB-E9EE-A599162E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9087510-A61E-12AA-F455-3F4936916F3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53719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14AD-E614-F69D-28E2-776844CA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19797D-7DCF-75BF-8E47-B9D9090D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0FBC1E-0B9B-895D-39ED-30B02DAF6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592BFF-5251-CB4F-723C-0174586B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79ABF41-BAE3-7DA9-5AEC-D583ECB5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7D25FA9-FC98-C2B8-43FA-D3ED3C6CAC19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643484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A57E-0B5D-BCB9-72EE-D9238172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EAEE75-CD59-0DDF-60EA-0CE75268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4C51DA-C2CD-5A39-644B-3C53E850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4FE030-7421-7D33-161A-0A5C872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3165950-7406-E233-144F-89A7AF91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621B093-55CF-573C-04DA-0D7ACBF205D5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115499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0FD7-B490-96A6-2D53-0EBEF663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125E10-A66B-ABA2-3CFD-CDE8E649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A2010-45DE-9E58-52D0-95911D0B6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59D1A3-5AE5-B785-489A-AFA1D17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9F8D848-46CA-3BE7-F576-16D01786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AB9F3D1-6E09-B1E9-1833-A5D4BEF5CF72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117441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9E13122-77CE-23A0-04BD-5B657387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C457BB-D15C-68C2-FEBC-3B49C221E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BBA342-FD4D-0504-D1F3-96674E3D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1412B19-1D64-3A22-00E2-653B42E2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39FA65-A9C1-66FD-ADE4-EBCD885E7B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not work when the cube is rotated in the image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Orange and red color areas are very close to each other, risk of confusion in the border area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 correction reaches its limits with excessive color deviations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Detection of the grey frame not always exactly at its edge (shadows, angle to the camera)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inaccurate color correction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572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E6F8A5-277B-47CF-F4ED-BBD90B19E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85F728-4F93-60F6-DFF4-59788ACF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05409-F515-6631-8E23-8ECD54EC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22</a:t>
            </a:fld>
            <a:endParaRPr lang="de-DE"/>
          </a:p>
        </p:txBody>
      </p:sp>
      <p:sp>
        <p:nvSpPr>
          <p:cNvPr id="5" name="Vertikaler Textplatzhalter 4">
            <a:extLst>
              <a:ext uri="{FF2B5EF4-FFF2-40B4-BE49-F238E27FC236}">
                <a16:creationId xmlns:a16="http://schemas.microsoft.com/office/drawing/2014/main" id="{A65D80D3-183A-C265-94AD-4DD98343CE0E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Vertikaler Textplatzhalter 5">
            <a:extLst>
              <a:ext uri="{FF2B5EF4-FFF2-40B4-BE49-F238E27FC236}">
                <a16:creationId xmlns:a16="http://schemas.microsoft.com/office/drawing/2014/main" id="{58BBA42D-F569-2C1D-D35A-D0E95E471CA2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GB" dirty="0"/>
              <a:t>Thanks for your Attention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CF3449C-AC89-B61B-CD7C-CEB6A526F2EB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727695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/>
        </a:solidFill>
        <a:ln>
          <a:noFill/>
        </a:ln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1034</Words>
  <Application>Microsoft Office PowerPoint</Application>
  <PresentationFormat>Breitbild</PresentationFormat>
  <Paragraphs>173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Verdana</vt:lpstr>
      <vt:lpstr>Wingdings</vt:lpstr>
      <vt:lpstr>PPT_HHN_16x9_DE_02</vt:lpstr>
      <vt:lpstr>Computer and Robot vision</vt:lpstr>
      <vt:lpstr>Agenda</vt:lpstr>
      <vt:lpstr>Project description </vt:lpstr>
      <vt:lpstr>Challanges</vt:lpstr>
      <vt:lpstr>Process description - Flow Chart</vt:lpstr>
      <vt:lpstr>Process Description – grey frame detection</vt:lpstr>
      <vt:lpstr>Process Description – color Correction</vt:lpstr>
      <vt:lpstr>Process Description – color Correction</vt:lpstr>
      <vt:lpstr>Process Description – color filtering</vt:lpstr>
      <vt:lpstr>Process Description – color filtering</vt:lpstr>
      <vt:lpstr>Process Description – Edge Filtering</vt:lpstr>
      <vt:lpstr>Process Description – grid position</vt:lpstr>
      <vt:lpstr>Process Description – Merging of results</vt:lpstr>
      <vt:lpstr>Process Description – compensation</vt:lpstr>
      <vt:lpstr>Process Description – Backwards color det.</vt:lpstr>
      <vt:lpstr>Process Description – Result / Output</vt:lpstr>
      <vt:lpstr>Demo via recorded Pictures</vt:lpstr>
      <vt:lpstr>Demo via recorded Pictures</vt:lpstr>
      <vt:lpstr>Demo via recorded Pictures</vt:lpstr>
      <vt:lpstr>Demo via recorded Pictures</vt:lpstr>
      <vt:lpstr>Limits of the system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ProjektLabor Elektronische Systeme</dc:title>
  <dc:creator>Christian Schwaninger</dc:creator>
  <cp:lastModifiedBy>Soens, Tim</cp:lastModifiedBy>
  <cp:revision>32</cp:revision>
  <dcterms:modified xsi:type="dcterms:W3CDTF">2025-01-14T10:56:05Z</dcterms:modified>
</cp:coreProperties>
</file>