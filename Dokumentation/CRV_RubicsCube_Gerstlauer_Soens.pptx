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3" r:id="rId10"/>
    <p:sldId id="280" r:id="rId11"/>
    <p:sldId id="264" r:id="rId12"/>
    <p:sldId id="273" r:id="rId13"/>
    <p:sldId id="265" r:id="rId14"/>
    <p:sldId id="266" r:id="rId15"/>
    <p:sldId id="275" r:id="rId16"/>
    <p:sldId id="274" r:id="rId17"/>
    <p:sldId id="277" r:id="rId18"/>
    <p:sldId id="268" r:id="rId19"/>
    <p:sldId id="276" r:id="rId20"/>
    <p:sldId id="270" r:id="rId21"/>
  </p:sldIdLst>
  <p:sldSz cx="12192000" cy="6858000"/>
  <p:notesSz cx="12192000" cy="6858000"/>
  <p:defaultTextStyle>
    <a:defPPr lvl="0">
      <a:defRPr lang="de-DE"/>
    </a:defPPr>
    <a:lvl1pPr marL="0" lv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A4EB"/>
    <a:srgbClr val="1691DC"/>
    <a:srgbClr val="1B0EBE"/>
    <a:srgbClr val="007296"/>
    <a:srgbClr val="1B79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603" y="3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392F0-C36D-4E24-B0D3-6CE759675F96}" type="datetimeFigureOut">
              <a:rPr lang="de-DE" smtClean="0"/>
              <a:t>13.01.2025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F8426-9F69-4D52-B249-5DB4AA5F9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05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Hue, Saturation, Value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F8426-9F69-4D52-B249-5DB4AA5F9DD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146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B5FCE-A86C-9058-BA01-EBEF4CDD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810C657-49B4-ECB8-F293-4839FF8D5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A07328-4B06-FA9A-6522-B659E29E7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Hue, Saturation, Value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ABBE34-0AB7-28AC-03AD-FCC7B0540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F8426-9F69-4D52-B249-5DB4AA5F9DD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779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/Untertitel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1980001"/>
            <a:chOff x="304800" y="-468001"/>
            <a:chExt cx="10891200" cy="1980001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7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sp>
        <p:nvSpPr>
          <p:cNvPr id="10" name="Fußzeilenplatzhalter 9"/>
          <p:cNvSpPr>
            <a:spLocks noGrp="1"/>
          </p:cNvSpPr>
          <p:nvPr>
            <p:ph type="ftr" sz="quarter" idx="17"/>
          </p:nvPr>
        </p:nvSpPr>
        <p:spPr bwMode="auto">
          <a:xfrm>
            <a:off x="406401" y="6984001"/>
            <a:ext cx="7375299" cy="216000"/>
          </a:xfrm>
        </p:spPr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 bwMode="auto">
          <a:xfrm>
            <a:off x="9883778" y="6984001"/>
            <a:ext cx="1899711" cy="216000"/>
          </a:xfrm>
        </p:spPr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2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22" name="Vertikaler Textplatzhalter 2"/>
          <p:cNvSpPr>
            <a:spLocks noGrp="1"/>
          </p:cNvSpPr>
          <p:nvPr>
            <p:ph type="body" orient="vert" idx="19" hasCustomPrompt="1"/>
          </p:nvPr>
        </p:nvSpPr>
        <p:spPr bwMode="auto"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Thema des Referats Thema des Referats Thema des Referats Thema des Referats </a:t>
            </a:r>
            <a:endParaRPr/>
          </a:p>
        </p:txBody>
      </p:sp>
      <p:sp>
        <p:nvSpPr>
          <p:cNvPr id="23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9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pic>
        <p:nvPicPr>
          <p:cNvPr id="17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/>
          <p:cNvSpPr>
            <a:spLocks noGrp="1" noChangeAspect="1"/>
          </p:cNvSpPr>
          <p:nvPr>
            <p:ph type="body" orient="vert" idx="21" hasCustomPrompt="1"/>
          </p:nvPr>
        </p:nvSpPr>
        <p:spPr bwMode="auto">
          <a:xfrm>
            <a:off x="1152000" y="4904882"/>
            <a:ext cx="128025" cy="20484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5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6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37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17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/>
          <p:cNvSpPr>
            <a:spLocks noGrp="1" noChangeAspect="1"/>
          </p:cNvSpPr>
          <p:nvPr>
            <p:ph type="body" orient="vert" idx="13" hasCustomPrompt="1"/>
          </p:nvPr>
        </p:nvSpPr>
        <p:spPr bwMode="auto">
          <a:xfrm>
            <a:off x="1026073" y="4914407"/>
            <a:ext cx="180000" cy="28800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 mit Bild INSTITUTS-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  <a:endParaRPr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5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-359999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0"/>
            <a:chExt cx="10891200" cy="7668000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6" name="Fußzeile"/>
            <p:cNvSpPr txBox="1"/>
            <p:nvPr userDrawn="1"/>
          </p:nvSpPr>
          <p:spPr bwMode="auto">
            <a:xfrm rot="10800000" flipH="1" flipV="1">
              <a:off x="304800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1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24" name="Vertikaler Textplatzhalter 2"/>
          <p:cNvSpPr>
            <a:spLocks noGrp="1" noChangeAspect="1"/>
          </p:cNvSpPr>
          <p:nvPr>
            <p:ph type="body" orient="vert" idx="20" hasCustomPrompt="1"/>
          </p:nvPr>
        </p:nvSpPr>
        <p:spPr bwMode="auto">
          <a:xfrm>
            <a:off x="1026000" y="4914405"/>
            <a:ext cx="180000" cy="28800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  <p:sp>
        <p:nvSpPr>
          <p:cNvPr id="17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PLATZHALTER INSTITUTS-LOGO über den Button Bild einfügen Logo laden </a:t>
            </a:r>
            <a:endParaRPr/>
          </a:p>
        </p:txBody>
      </p:sp>
      <p:sp>
        <p:nvSpPr>
          <p:cNvPr id="18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PLATZHALTER INSTITUTS-LOGO über den Button Bild einfügen Logo laden </a:t>
            </a:r>
            <a:endParaRPr/>
          </a:p>
        </p:txBody>
      </p:sp>
      <p:sp>
        <p:nvSpPr>
          <p:cNvPr id="22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4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5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6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7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18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19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8874" y="305319"/>
            <a:ext cx="2064615" cy="697187"/>
          </a:xfrm>
          <a:prstGeom prst="rect">
            <a:avLst/>
          </a:prstGeom>
        </p:spPr>
      </p:pic>
      <p:pic>
        <p:nvPicPr>
          <p:cNvPr id="21" name="Pfeil"/>
          <p:cNvPicPr/>
          <p:nvPr userDrawn="1"/>
        </p:nvPicPr>
        <p:blipFill>
          <a:blip r:embed="rId4"/>
          <a:stretch/>
        </p:blipFill>
        <p:spPr bwMode="auto"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Zwischen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rcRect t="14167"/>
          <a:stretch/>
        </p:blipFill>
        <p:spPr bwMode="auto"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30728" y="2160001"/>
            <a:ext cx="10252761" cy="15314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ZWISCHENTITEL TRENNERSEITE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1530728" y="3905249"/>
            <a:ext cx="10252761" cy="2338391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Zusatz Info</a:t>
            </a:r>
            <a:endParaRPr/>
          </a:p>
        </p:txBody>
      </p:sp>
      <p:grpSp>
        <p:nvGrpSpPr>
          <p:cNvPr id="14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5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6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7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8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19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1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  <p:pic>
        <p:nvPicPr>
          <p:cNvPr id="23" name="Pfeil"/>
          <p:cNvPicPr/>
          <p:nvPr userDrawn="1"/>
        </p:nvPicPr>
        <p:blipFill>
          <a:blip r:embed="rId4"/>
          <a:stretch/>
        </p:blipFill>
        <p:spPr bwMode="auto">
          <a:xfrm>
            <a:off x="1206000" y="2376000"/>
            <a:ext cx="180000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 bwMode="auto">
          <a:xfrm>
            <a:off x="406405" y="2033591"/>
            <a:ext cx="11377084" cy="42100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 // 3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5" y="2033700"/>
            <a:ext cx="11377084" cy="223188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15" name="Bildplatzhalter 2"/>
          <p:cNvSpPr>
            <a:spLocks noGrp="1"/>
          </p:cNvSpPr>
          <p:nvPr>
            <p:ph type="pic" idx="1" hasCustomPrompt="1"/>
          </p:nvPr>
        </p:nvSpPr>
        <p:spPr bwMode="auto">
          <a:xfrm>
            <a:off x="406400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16" name="Bildplatzhalter 2"/>
          <p:cNvSpPr>
            <a:spLocks noGrp="1"/>
          </p:cNvSpPr>
          <p:nvPr>
            <p:ph type="pic" idx="14" hasCustomPrompt="1"/>
          </p:nvPr>
        </p:nvSpPr>
        <p:spPr bwMode="auto">
          <a:xfrm>
            <a:off x="4265901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8125404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 //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0" y="2033702"/>
            <a:ext cx="7128933" cy="4209936"/>
          </a:xfrm>
        </p:spPr>
        <p:txBody>
          <a:bodyPr vert="horz"/>
          <a:lstStyle>
            <a:lvl3pPr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7920568" y="2097883"/>
            <a:ext cx="3862917" cy="396002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Zita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5" y="971550"/>
            <a:ext cx="12191999" cy="58864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 &gt;&gt; Menü &gt; Einfügen &gt; Bilder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971552"/>
            <a:ext cx="12192000" cy="5886449"/>
          </a:xfrm>
          <a:prstGeom prst="rect">
            <a:avLst/>
          </a:prstGeom>
          <a:blipFill>
            <a:blip r:embed="rId2"/>
            <a:stretch/>
          </a:blipFill>
        </p:spPr>
        <p:txBody>
          <a:bodyPr vert="horz" lIns="1954800" tIns="13896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Zitat auf erster Ebene // für Autor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grpSp>
        <p:nvGrpSpPr>
          <p:cNvPr id="13" name="Regieanweisungen"/>
          <p:cNvGrpSpPr/>
          <p:nvPr userDrawn="1"/>
        </p:nvGrpSpPr>
        <p:grpSpPr bwMode="auto">
          <a:xfrm>
            <a:off x="-2352000" y="-468000"/>
            <a:ext cx="17280000" cy="7668001"/>
            <a:chOff x="-1764000" y="-468001"/>
            <a:chExt cx="12960000" cy="7668001"/>
          </a:xfrm>
        </p:grpSpPr>
        <p:sp>
          <p:nvSpPr>
            <p:cNvPr id="14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5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6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8" name="Text // Listenebene erhöhen"/>
            <p:cNvSpPr txBox="1"/>
            <p:nvPr userDrawn="1"/>
          </p:nvSpPr>
          <p:spPr bwMode="auto">
            <a:xfrm>
              <a:off x="-1764000" y="3042062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erhöhen</a:t>
              </a:r>
              <a:endParaRPr/>
            </a:p>
          </p:txBody>
        </p:sp>
        <p:sp>
          <p:nvSpPr>
            <p:cNvPr id="19" name="Text // Listenebene verringern"/>
            <p:cNvSpPr txBox="1"/>
            <p:nvPr userDrawn="1"/>
          </p:nvSpPr>
          <p:spPr bwMode="auto">
            <a:xfrm>
              <a:off x="-1764000" y="3438062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verringern</a:t>
              </a:r>
              <a:endParaRPr/>
            </a:p>
          </p:txBody>
        </p:sp>
        <p:sp>
          <p:nvSpPr>
            <p:cNvPr id="20" name="Listenebenen"/>
            <p:cNvSpPr txBox="1"/>
            <p:nvPr userDrawn="1"/>
          </p:nvSpPr>
          <p:spPr bwMode="auto"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der Textebene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Absatz &gt; Listenebene erhöhen/verringern</a:t>
              </a:r>
              <a:endParaRPr/>
            </a:p>
          </p:txBody>
        </p:sp>
        <p:pic>
          <p:nvPicPr>
            <p:cNvPr id="21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/>
          </p:blipFill>
          <p:spPr bwMode="auto">
            <a:xfrm>
              <a:off x="-792000" y="3438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Bild // Listenebene erhöhen"/>
            <p:cNvPicPr>
              <a:picLocks noChangeAspect="1"/>
            </p:cNvPicPr>
            <p:nvPr userDrawn="1"/>
          </p:nvPicPr>
          <p:blipFill>
            <a:blip r:embed="rId4"/>
            <a:stretch/>
          </p:blipFill>
          <p:spPr bwMode="auto">
            <a:xfrm>
              <a:off x="-792000" y="3042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24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6" name="Logo HHN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  <p:sp>
        <p:nvSpPr>
          <p:cNvPr id="28" name="Titel 9"/>
          <p:cNvSpPr>
            <a:spLocks noGrp="1"/>
          </p:cNvSpPr>
          <p:nvPr>
            <p:ph type="title" hasCustomPrompt="1"/>
          </p:nvPr>
        </p:nvSpPr>
        <p:spPr bwMode="auto">
          <a:xfrm>
            <a:off x="0" y="1684080"/>
            <a:ext cx="1321200" cy="1119600"/>
          </a:xfrm>
          <a:prstGeom prst="rect">
            <a:avLst/>
          </a:prstGeom>
          <a:blipFill>
            <a:blip r:embed="rId6"/>
            <a:stretch/>
          </a:blipFill>
        </p:spPr>
        <p:txBody>
          <a:bodyPr wrap="none" rIns="1454400" anchor="t" anchorCtr="0"/>
          <a:lstStyle>
            <a:lvl1pPr algn="r">
              <a:defRPr sz="1000"/>
            </a:lvl1pPr>
          </a:lstStyle>
          <a:p>
            <a:pPr>
              <a:defRPr/>
            </a:pPr>
            <a:r>
              <a:rPr lang="pt-BR"/>
              <a:t>Bitte nicht</a:t>
            </a:r>
            <a:br>
              <a:rPr lang="pt-BR"/>
            </a:br>
            <a:r>
              <a:rPr lang="pt-BR"/>
              <a:t>verschieben</a:t>
            </a: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fo // 2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5" y="2033700"/>
            <a:ext cx="11377084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Kurze Info zum Inhalt</a:t>
            </a:r>
            <a:endParaRPr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6405" y="2565404"/>
            <a:ext cx="5592519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6192002" y="2565404"/>
            <a:ext cx="5591487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fo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0" y="2033700"/>
            <a:ext cx="11377085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Kurze Info zum Inhalt</a:t>
            </a:r>
            <a:endParaRPr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6405" y="2565404"/>
            <a:ext cx="11377084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rcRect t="14167"/>
          <a:stretch/>
        </p:blipFill>
        <p:spPr bwMode="auto"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de-DE"/>
              <a:t>Bei Fragen kontaktieren Sie bitte:</a:t>
            </a:r>
            <a:br>
              <a:rPr lang="de-DE"/>
            </a:br>
            <a:r>
              <a:rPr lang="de-DE"/>
              <a:t>Vorname Nachname (Menü &gt; Listenebne erhöhen)</a:t>
            </a:r>
            <a:br>
              <a:rPr lang="de-DE"/>
            </a:br>
            <a:r>
              <a:rPr lang="de-DE"/>
              <a:t>Fakultät XY | Fachrichtung </a:t>
            </a:r>
            <a:br>
              <a:rPr lang="de-DE"/>
            </a:br>
            <a:r>
              <a:rPr lang="de-DE"/>
              <a:t>meike.muster@hs-heilbronn.de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 bwMode="auto">
          <a:xfrm>
            <a:off x="2087996" y="2097092"/>
            <a:ext cx="9695489" cy="1915337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3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Schlusswort</a:t>
            </a:r>
            <a:endParaRPr/>
          </a:p>
        </p:txBody>
      </p:sp>
      <p:sp>
        <p:nvSpPr>
          <p:cNvPr id="15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 bwMode="auto"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3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4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5" name="Text // Listenebene erhöhen"/>
            <p:cNvSpPr txBox="1"/>
            <p:nvPr userDrawn="1"/>
          </p:nvSpPr>
          <p:spPr bwMode="auto"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erhöhen</a:t>
              </a:r>
              <a:endParaRPr/>
            </a:p>
          </p:txBody>
        </p:sp>
        <p:sp>
          <p:nvSpPr>
            <p:cNvPr id="16" name="Text // Listenebene verringern"/>
            <p:cNvSpPr txBox="1"/>
            <p:nvPr userDrawn="1"/>
          </p:nvSpPr>
          <p:spPr bwMode="auto"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verringern</a:t>
              </a:r>
              <a:endParaRPr/>
            </a:p>
          </p:txBody>
        </p:sp>
        <p:sp>
          <p:nvSpPr>
            <p:cNvPr id="17" name="Listenebenen"/>
            <p:cNvSpPr txBox="1"/>
            <p:nvPr userDrawn="1"/>
          </p:nvSpPr>
          <p:spPr bwMode="auto"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der Textebene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Absatz &gt; Listenebene erhöhen/verringern</a:t>
              </a:r>
              <a:endParaRPr/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/>
          </p:blipFill>
          <p:spPr bwMode="auto">
            <a:xfrm>
              <a:off x="-544788" y="3267934"/>
              <a:ext cx="385762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/>
          </p:blipFill>
          <p:spPr bwMode="auto">
            <a:xfrm>
              <a:off x="-544788" y="2871934"/>
              <a:ext cx="385762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 bwMode="auto"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21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cxnSp>
        <p:nvCxnSpPr>
          <p:cNvPr id="12" name="Footerlinie"/>
          <p:cNvCxnSpPr>
            <a:cxnSpLocks/>
          </p:cNvCxnSpPr>
          <p:nvPr/>
        </p:nvCxnSpPr>
        <p:spPr bwMode="auto"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>
            <a:cxnSpLocks/>
          </p:cNvCxnSpPr>
          <p:nvPr/>
        </p:nvCxnSpPr>
        <p:spPr bwMode="auto">
          <a:xfrm>
            <a:off x="407997" y="1379378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406405" y="898525"/>
            <a:ext cx="11377084" cy="4808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pt-BR"/>
              <a:t>Headline einfügen über zwei Zeilen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6402" y="1489921"/>
            <a:ext cx="11377084" cy="47537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  <a:endParaRPr dirty="0"/>
          </a:p>
          <a:p>
            <a:pPr lvl="1">
              <a:defRPr/>
            </a:pPr>
            <a:r>
              <a:rPr lang="de-DE" dirty="0"/>
              <a:t>Zweite Ebene</a:t>
            </a:r>
            <a:endParaRPr dirty="0"/>
          </a:p>
          <a:p>
            <a:pPr lvl="2">
              <a:defRPr/>
            </a:pPr>
            <a:r>
              <a:rPr lang="de-DE" dirty="0"/>
              <a:t>Dritte Ebene</a:t>
            </a:r>
            <a:endParaRPr dirty="0"/>
          </a:p>
          <a:p>
            <a:pPr lvl="3">
              <a:defRPr/>
            </a:pPr>
            <a:r>
              <a:rPr lang="de-DE" dirty="0"/>
              <a:t>Vierte Ebene</a:t>
            </a:r>
            <a:endParaRPr dirty="0"/>
          </a:p>
          <a:p>
            <a:pPr lvl="4">
              <a:defRPr/>
            </a:pPr>
            <a:r>
              <a:rPr lang="de-DE" dirty="0"/>
              <a:t>Fünfte Ebene</a:t>
            </a:r>
            <a:endParaRPr dirty="0"/>
          </a:p>
          <a:p>
            <a:pPr lvl="5">
              <a:defRPr/>
            </a:pPr>
            <a:r>
              <a:rPr lang="de-DE" dirty="0"/>
              <a:t>Sechste Ebene</a:t>
            </a:r>
            <a:endParaRPr dirty="0"/>
          </a:p>
          <a:p>
            <a:pPr lvl="6">
              <a:defRPr/>
            </a:pPr>
            <a:r>
              <a:rPr lang="de-DE" dirty="0"/>
              <a:t>Siebte Ebene</a:t>
            </a:r>
            <a:endParaRPr dirty="0"/>
          </a:p>
          <a:p>
            <a:pPr lvl="7">
              <a:defRPr/>
            </a:pPr>
            <a:r>
              <a:rPr lang="de-DE" dirty="0"/>
              <a:t>Achte Ebene</a:t>
            </a:r>
            <a:endParaRPr dirty="0"/>
          </a:p>
          <a:p>
            <a:pPr lvl="8">
              <a:defRPr/>
            </a:pPr>
            <a:r>
              <a:rPr lang="de-DE" dirty="0"/>
              <a:t>Neunte Ebene</a:t>
            </a:r>
            <a:endParaRPr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1" spc="4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9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0" spc="4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9pPr>
          </a:lstStyle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pic>
        <p:nvPicPr>
          <p:cNvPr id="22" name="Logo HHN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marL="0" indent="0" algn="l" defTabSz="914407">
        <a:lnSpc>
          <a:spcPct val="94000"/>
        </a:lnSpc>
        <a:spcBef>
          <a:spcPts val="0"/>
        </a:spcBef>
        <a:buFont typeface="Arial"/>
        <a:buNone/>
        <a:defRPr sz="3000" b="1" cap="all" spc="12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>
        <a:lnSpc>
          <a:spcPct val="105000"/>
        </a:lnSpc>
        <a:spcBef>
          <a:spcPts val="0"/>
        </a:spcBef>
        <a:spcAft>
          <a:spcPts val="1999"/>
        </a:spcAft>
        <a:buFont typeface="Arial"/>
        <a:buNone/>
        <a:tabLst>
          <a:tab pos="288003" algn="l"/>
          <a:tab pos="792005" algn="l"/>
        </a:tabLst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>
        <a:lnSpc>
          <a:spcPct val="105000"/>
        </a:lnSpc>
        <a:spcBef>
          <a:spcPts val="599"/>
        </a:spcBef>
        <a:buClr>
          <a:schemeClr val="accent1"/>
        </a:buClr>
        <a:buFont typeface="Arial"/>
        <a:buChar char="&gt;"/>
        <a:tabLst>
          <a:tab pos="288003" algn="l"/>
          <a:tab pos="792005" algn="l"/>
        </a:tabLst>
        <a:defRPr sz="2200" b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>
        <a:lnSpc>
          <a:spcPct val="108000"/>
        </a:lnSpc>
        <a:spcBef>
          <a:spcPts val="130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1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/>
        <a:buChar char="&gt;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>
        <a:lnSpc>
          <a:spcPct val="108000"/>
        </a:lnSpc>
        <a:spcBef>
          <a:spcPts val="0"/>
        </a:spcBef>
        <a:spcAft>
          <a:spcPts val="0"/>
        </a:spcAft>
        <a:buFont typeface="Wingdings"/>
        <a:buChar char="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000DB1F2-0AE0-94FA-0472-18598984FF7C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A0F667E-E32B-0BB5-A9BD-8A0DE2C02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Computer and Robot vision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64D300-9D4D-0CB5-B80C-F2D6F45AD70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B4BD7C-26A6-8E91-1584-F2F481914B2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|  </a:t>
            </a:r>
            <a:fld id="{E6B5151A-17C4-4431-8407-112C0160A8B6}" type="slidenum">
              <a:rPr lang="de-DE" smtClean="0"/>
              <a:t>1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306490E-974A-457A-2225-87B89D12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 lang="de-DE" dirty="0"/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97D6974A-CF9D-E8AB-0562-065B3A50CC03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/>
        <p:txBody>
          <a:bodyPr/>
          <a:lstStyle/>
          <a:p>
            <a:r>
              <a:rPr lang="de-DE" sz="1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Rubik's</a:t>
            </a:r>
            <a:r>
              <a:rPr lang="de-DE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Cube </a:t>
            </a:r>
            <a:r>
              <a:rPr lang="de-DE" sz="1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de-DE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detektion</a:t>
            </a:r>
            <a:endParaRPr lang="de-DE" dirty="0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31CFA1F8-9BA0-3AC6-8C0B-39B8807EC2E5}"/>
              </a:ext>
            </a:extLst>
          </p:cNvPr>
          <p:cNvSpPr>
            <a:spLocks noGrp="1"/>
          </p:cNvSpPr>
          <p:nvPr>
            <p:ph type="body" orient="vert" idx="20"/>
          </p:nvPr>
        </p:nvSpPr>
        <p:spPr/>
        <p:txBody>
          <a:bodyPr/>
          <a:lstStyle/>
          <a:p>
            <a:r>
              <a:rPr lang="en-US" dirty="0"/>
              <a:t>Computer and Robot Vision | Automotive Systems Engineering |  WS 24/25</a:t>
            </a:r>
            <a:endParaRPr lang="de-DE" dirty="0"/>
          </a:p>
          <a:p>
            <a:endParaRPr lang="de-DE" dirty="0"/>
          </a:p>
        </p:txBody>
      </p:sp>
      <p:sp>
        <p:nvSpPr>
          <p:cNvPr id="9" name="Vertikaler Textplatzhalter 8">
            <a:extLst>
              <a:ext uri="{FF2B5EF4-FFF2-40B4-BE49-F238E27FC236}">
                <a16:creationId xmlns:a16="http://schemas.microsoft.com/office/drawing/2014/main" id="{4C4C5B4F-DAE4-6E6F-081C-4C1DACDE69AE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742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14786C-336F-BE29-1C3C-762A0F7A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2783DE-E67C-50D6-7DAD-22A2CC06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C2A17C-EA7E-E724-B96D-C1128753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|  </a:t>
            </a:r>
            <a:fld id="{E6B5151A-17C4-4431-8407-112C0160A8B6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5309719-9E04-16BA-1447-EFA3C663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2F096B-D306-4D40-549F-312BE9C5AF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Project </a:t>
            </a:r>
            <a:r>
              <a:rPr lang="en-GB" noProof="0" dirty="0"/>
              <a:t>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Challenges </a:t>
            </a:r>
            <a:r>
              <a:rPr lang="en-GB" noProof="0" dirty="0"/>
              <a:t>of</a:t>
            </a:r>
            <a:r>
              <a:rPr lang="en-GB" dirty="0"/>
              <a:t>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Process 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Demo-picture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Demo-live</a:t>
            </a:r>
          </a:p>
        </p:txBody>
      </p:sp>
    </p:spTree>
    <p:extLst>
      <p:ext uri="{BB962C8B-B14F-4D97-AF65-F5344CB8AC3E}">
        <p14:creationId xmlns:p14="http://schemas.microsoft.com/office/powerpoint/2010/main" val="196684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44BCDF-56E2-6206-B0E5-5AEDAFC9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8BAC48-D40B-166E-D4C1-064D9C4B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A998F-925E-76E4-4B16-FE72311E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AC84E6A-5F31-0E03-0237-3D395AF7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GB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6DE176-A64B-4B79-8994-AB199D246C9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5689595" cy="4210049"/>
          </a:xfrm>
        </p:spPr>
        <p:txBody>
          <a:bodyPr/>
          <a:lstStyle/>
          <a:p>
            <a:r>
              <a:rPr lang="en-GB" dirty="0"/>
              <a:t>The aim is to recognize the 9 coloured squares of a Rubik's cube under different lighting conditions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7B7069AF-22B4-9436-C5E8-E05FDC91174E}"/>
              </a:ext>
            </a:extLst>
          </p:cNvPr>
          <p:cNvSpPr txBox="1">
            <a:spLocks/>
          </p:cNvSpPr>
          <p:nvPr/>
        </p:nvSpPr>
        <p:spPr bwMode="auto">
          <a:xfrm>
            <a:off x="406404" y="1308810"/>
            <a:ext cx="5689595" cy="421004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7">
              <a:lnSpc>
                <a:spcPct val="105000"/>
              </a:lnSpc>
              <a:spcBef>
                <a:spcPts val="0"/>
              </a:spcBef>
              <a:spcAft>
                <a:spcPts val="1999"/>
              </a:spcAft>
              <a:buFont typeface="Arial"/>
              <a:buNone/>
              <a:tabLst>
                <a:tab pos="288003" algn="l"/>
                <a:tab pos="792005" algn="l"/>
              </a:tabLst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3" indent="-288003" algn="l" defTabSz="914407">
              <a:lnSpc>
                <a:spcPct val="105000"/>
              </a:lnSpc>
              <a:spcBef>
                <a:spcPts val="599"/>
              </a:spcBef>
              <a:buClr>
                <a:schemeClr val="accent1"/>
              </a:buClr>
              <a:buFont typeface="Arial"/>
              <a:buChar char="&gt;"/>
              <a:tabLst>
                <a:tab pos="288003" algn="l"/>
                <a:tab pos="792005" algn="l"/>
              </a:tabLst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88003" indent="0" algn="l" defTabSz="914407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88003" indent="-288003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&gt;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4004" indent="-216001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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03" indent="-288003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3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Experimental </a:t>
            </a:r>
            <a:r>
              <a:rPr lang="de-DE" dirty="0" err="1"/>
              <a:t>setup</a:t>
            </a:r>
            <a:r>
              <a:rPr lang="de-DE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Rubiks </a:t>
            </a:r>
            <a:r>
              <a:rPr lang="de-DE" dirty="0" err="1"/>
              <a:t>cube</a:t>
            </a:r>
            <a:r>
              <a:rPr lang="de-DE" dirty="0"/>
              <a:t> in </a:t>
            </a:r>
            <a:r>
              <a:rPr lang="de-DE" dirty="0" err="1"/>
              <a:t>grey</a:t>
            </a:r>
            <a:r>
              <a:rPr lang="de-DE" dirty="0"/>
              <a:t> socket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LED-</a:t>
            </a:r>
            <a:r>
              <a:rPr lang="de-DE" dirty="0" err="1"/>
              <a:t>Lightsource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Webcam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9EFBEF4-ED52-8661-D530-5886EC36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1" r="31264"/>
          <a:stretch/>
        </p:blipFill>
        <p:spPr>
          <a:xfrm rot="5400000">
            <a:off x="6286551" y="1778110"/>
            <a:ext cx="4794031" cy="41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9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BE5E7D-EFAB-E715-864A-E749F76F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E1349-804E-6989-BDE6-56280938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5DC5DF-2EBF-5880-C696-A25CBD37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0F91674-104E-5C53-0E82-E514FAEC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Challanges</a:t>
            </a:r>
            <a:endParaRPr lang="en-GB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A33D61-1EA4-E58F-F80C-DFBA92FF0DE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6514657" cy="4210049"/>
          </a:xfrm>
        </p:spPr>
        <p:txBody>
          <a:bodyPr/>
          <a:lstStyle/>
          <a:p>
            <a:r>
              <a:rPr lang="en-GB" dirty="0"/>
              <a:t>Due to the smooth surface of the cube there a many reflections</a:t>
            </a:r>
          </a:p>
          <a:p>
            <a:r>
              <a:rPr lang="en-GB" dirty="0"/>
              <a:t>The webcam isn‘t mounted in the </a:t>
            </a:r>
            <a:r>
              <a:rPr lang="en-GB" dirty="0" err="1"/>
              <a:t>center</a:t>
            </a:r>
            <a:r>
              <a:rPr lang="en-GB" dirty="0"/>
              <a:t> of the LED circle which </a:t>
            </a:r>
            <a:r>
              <a:rPr lang="en-GB" dirty="0" err="1"/>
              <a:t>interfers</a:t>
            </a:r>
            <a:r>
              <a:rPr lang="en-GB" dirty="0"/>
              <a:t> with the exposure</a:t>
            </a:r>
          </a:p>
          <a:p>
            <a:r>
              <a:rPr lang="en-GB" dirty="0" err="1"/>
              <a:t>Color</a:t>
            </a:r>
            <a:r>
              <a:rPr lang="en-GB" dirty="0"/>
              <a:t> correction is limited to small changes in the lighting conditions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8D0A6D-D3AB-9378-68FA-DC27A053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05" t="28659" r="36811" b="17962"/>
          <a:stretch/>
        </p:blipFill>
        <p:spPr>
          <a:xfrm>
            <a:off x="7294178" y="2469930"/>
            <a:ext cx="4240925" cy="366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67401F-005C-1214-FC8D-809CD9D2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 lang="en-GB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FFCF3E-31FC-EEC9-7C25-8F6F6201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1C8E6B-38C8-5DFA-1E9A-69C89B4A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|  </a:t>
            </a:r>
            <a:fld id="{E6B5151A-17C4-4431-8407-112C0160A8B6}" type="slidenum">
              <a:rPr lang="en-GB" smtClean="0"/>
              <a:t>5</a:t>
            </a:fld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771F175-58DA-2A7F-93C1-39D199EA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- Flow Chart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16378E8-EB8C-ADA3-3DBA-892DBB089734}"/>
              </a:ext>
            </a:extLst>
          </p:cNvPr>
          <p:cNvSpPr/>
          <p:nvPr/>
        </p:nvSpPr>
        <p:spPr bwMode="auto">
          <a:xfrm>
            <a:off x="222378" y="3171965"/>
            <a:ext cx="1249679" cy="88792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Read in Picture/ Frame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863D028-EAEF-48F2-D74F-D0F53D0DF707}"/>
              </a:ext>
            </a:extLst>
          </p:cNvPr>
          <p:cNvSpPr/>
          <p:nvPr/>
        </p:nvSpPr>
        <p:spPr bwMode="auto">
          <a:xfrm>
            <a:off x="10664325" y="3171958"/>
            <a:ext cx="1249680" cy="88792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Visualize results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97EF483-A10A-66D8-96F9-87F93380FDB0}"/>
              </a:ext>
            </a:extLst>
          </p:cNvPr>
          <p:cNvSpPr/>
          <p:nvPr/>
        </p:nvSpPr>
        <p:spPr bwMode="auto">
          <a:xfrm>
            <a:off x="1738758" y="3201929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Find grey box and crop to ROI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007C83F-DDCB-FD8E-9759-C2298255786B}"/>
              </a:ext>
            </a:extLst>
          </p:cNvPr>
          <p:cNvSpPr/>
          <p:nvPr/>
        </p:nvSpPr>
        <p:spPr bwMode="auto">
          <a:xfrm>
            <a:off x="3235835" y="3201924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/>
              <a:t>Color</a:t>
            </a:r>
            <a:r>
              <a:rPr lang="en-GB" sz="1200" dirty="0"/>
              <a:t> correction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3A53535-A0C6-EF8E-3C9E-D74CE181D41C}"/>
              </a:ext>
            </a:extLst>
          </p:cNvPr>
          <p:cNvSpPr/>
          <p:nvPr/>
        </p:nvSpPr>
        <p:spPr bwMode="auto">
          <a:xfrm>
            <a:off x="4732912" y="2117686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Find segments with Edge Detection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21B7708-4801-4A52-2FC9-129FEE871550}"/>
              </a:ext>
            </a:extLst>
          </p:cNvPr>
          <p:cNvSpPr/>
          <p:nvPr/>
        </p:nvSpPr>
        <p:spPr bwMode="auto">
          <a:xfrm>
            <a:off x="4732912" y="4237571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Find segments with </a:t>
            </a:r>
            <a:r>
              <a:rPr lang="en-GB" sz="1200" dirty="0" err="1"/>
              <a:t>color</a:t>
            </a:r>
            <a:r>
              <a:rPr lang="en-GB" sz="1200" dirty="0"/>
              <a:t> filter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3E31C1E-C7BF-9828-063C-ACB3DD020BF1}"/>
              </a:ext>
            </a:extLst>
          </p:cNvPr>
          <p:cNvSpPr/>
          <p:nvPr/>
        </p:nvSpPr>
        <p:spPr bwMode="auto">
          <a:xfrm>
            <a:off x="6229989" y="3201923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Merging of findings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06FD3EF-CAEF-1340-F6ED-731FF450B8A2}"/>
              </a:ext>
            </a:extLst>
          </p:cNvPr>
          <p:cNvSpPr/>
          <p:nvPr/>
        </p:nvSpPr>
        <p:spPr bwMode="auto">
          <a:xfrm>
            <a:off x="7727066" y="3201923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Compensate not detected segments via geometry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0F51FBD-551F-0AB7-AEE6-EAA2A06EAF5B}"/>
              </a:ext>
            </a:extLst>
          </p:cNvPr>
          <p:cNvSpPr/>
          <p:nvPr/>
        </p:nvSpPr>
        <p:spPr bwMode="auto">
          <a:xfrm>
            <a:off x="9224144" y="3201922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Add </a:t>
            </a:r>
            <a:r>
              <a:rPr lang="en-GB" sz="1200" dirty="0" err="1"/>
              <a:t>color</a:t>
            </a:r>
            <a:r>
              <a:rPr lang="en-GB" sz="1200" dirty="0"/>
              <a:t> information if needed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DBA41B0-BDB9-DBEE-3F7A-6DA593A9F040}"/>
              </a:ext>
            </a:extLst>
          </p:cNvPr>
          <p:cNvCxnSpPr>
            <a:stCxn id="7" idx="3"/>
            <a:endCxn id="17" idx="1"/>
          </p:cNvCxnSpPr>
          <p:nvPr/>
        </p:nvCxnSpPr>
        <p:spPr bwMode="auto">
          <a:xfrm>
            <a:off x="1472057" y="3615929"/>
            <a:ext cx="26670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A4633A4-F9F9-000D-94AF-D770E0B7549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 bwMode="auto">
          <a:xfrm flipV="1">
            <a:off x="2912238" y="3615924"/>
            <a:ext cx="323597" cy="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BDE9562-688C-206E-70DE-DDCE5FB6C22E}"/>
              </a:ext>
            </a:extLst>
          </p:cNvPr>
          <p:cNvCxnSpPr>
            <a:stCxn id="19" idx="3"/>
            <a:endCxn id="20" idx="1"/>
          </p:cNvCxnSpPr>
          <p:nvPr/>
        </p:nvCxnSpPr>
        <p:spPr bwMode="auto">
          <a:xfrm flipV="1">
            <a:off x="4409315" y="2531686"/>
            <a:ext cx="323597" cy="10842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060A595B-3CDF-2A71-188D-9F15825E42C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 bwMode="auto">
          <a:xfrm>
            <a:off x="4409315" y="3615924"/>
            <a:ext cx="323597" cy="103564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D88AE02-6E18-A27E-B163-C9311CA3A3E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 bwMode="auto">
          <a:xfrm>
            <a:off x="5906392" y="2531686"/>
            <a:ext cx="323597" cy="108423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4441487-C7FE-D877-A083-9D042C5E88B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 bwMode="auto">
          <a:xfrm flipV="1">
            <a:off x="5906392" y="3615923"/>
            <a:ext cx="323597" cy="10356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5BD04222-2D48-E63F-01A7-84690A8ADB6A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 bwMode="auto">
          <a:xfrm>
            <a:off x="7403469" y="3615923"/>
            <a:ext cx="32359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50FF425-9D16-38AE-B525-8725CB31B71F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 bwMode="auto">
          <a:xfrm flipV="1">
            <a:off x="8900546" y="3615922"/>
            <a:ext cx="32359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2B1CDF1E-AE51-2300-F1DE-36B7F28F4BB8}"/>
              </a:ext>
            </a:extLst>
          </p:cNvPr>
          <p:cNvCxnSpPr>
            <a:cxnSpLocks/>
            <a:stCxn id="24" idx="3"/>
            <a:endCxn id="16" idx="1"/>
          </p:cNvCxnSpPr>
          <p:nvPr/>
        </p:nvCxnSpPr>
        <p:spPr bwMode="auto">
          <a:xfrm>
            <a:off x="10397624" y="3615922"/>
            <a:ext cx="26670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48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6873A4-3B48-5F4A-8C70-9933AC45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3EBD52-C745-CA91-A0C6-073C6B63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4FC9A2-5BE3-BBD1-ABAD-B6809CB4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6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34E4AFC-6595-F388-E1FB-64ACDD86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grey frame detection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C78EFA-84AA-DCB4-C76B-68F2DA7E3C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5981695" cy="421004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Smoothing with bilateral filter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Edge detection with Canny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Closing of edges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Search for largest square contour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Reduce size of outer contour by 5%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Get inner contour by reducing size of outer contour by 10%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63D573-ED5F-6BBA-1E31-9D2C8DA6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104" y="1506747"/>
            <a:ext cx="4617245" cy="46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A17A-1822-CF4C-066F-2F141AC2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9CE787-FD08-F6E2-3E69-7A59DE4D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A58967-5EF7-80F8-DDD8-4BBAE01E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F2BF9F-9AC8-5188-2197-D23A0A4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7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071C42-EC04-F767-EBA3-4DCF5E0F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</a:t>
            </a:r>
            <a:r>
              <a:rPr lang="en-GB" dirty="0" err="1"/>
              <a:t>color</a:t>
            </a:r>
            <a:r>
              <a:rPr lang="en-GB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ACF5D8D7-64D1-C8BE-01D2-97AAF4E5F8DB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/>
            <p:txBody>
              <a:bodyPr/>
              <a:lstStyle/>
              <a:p>
                <a:r>
                  <a:rPr lang="en-GB" dirty="0"/>
                  <a:t>Calibration to get </a:t>
                </a:r>
                <a:r>
                  <a:rPr lang="en-GB" dirty="0" err="1"/>
                  <a:t>color</a:t>
                </a:r>
                <a:r>
                  <a:rPr lang="en-GB" dirty="0"/>
                  <a:t> conditions of Ground Truth</a:t>
                </a:r>
              </a:p>
              <a:p>
                <a:r>
                  <a:rPr lang="en-GB" dirty="0"/>
                  <a:t>Ground Truth: </a:t>
                </a:r>
                <a:r>
                  <a:rPr lang="en-GB" dirty="0" err="1"/>
                  <a:t>Color</a:t>
                </a:r>
                <a:r>
                  <a:rPr lang="en-GB" dirty="0"/>
                  <a:t> values of test image, </a:t>
                </a:r>
                <a:r>
                  <a:rPr lang="en-GB" dirty="0" err="1"/>
                  <a:t>color</a:t>
                </a:r>
                <a:r>
                  <a:rPr lang="en-GB" dirty="0"/>
                  <a:t> thresholds based on that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Get RGB-values of grey frame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Calculate correction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GB" dirty="0"/>
              </a:p>
              <a:p>
                <a:pPr marL="457200" indent="-457200">
                  <a:buFont typeface="+mj-lt"/>
                  <a:buAutoNum type="arabicPeriod"/>
                </a:pPr>
                <a:endParaRPr lang="en-GB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Recalibrate image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ACF5D8D7-64D1-C8BE-01D2-97AAF4E5F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blipFill>
                <a:blip r:embed="rId2"/>
                <a:stretch>
                  <a:fillRect l="-1501" t="-23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5021F776-F5D4-7AB0-5A1B-59AA4471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03" y="3608136"/>
            <a:ext cx="4857786" cy="18002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4ADFCB3-6846-8C58-39B5-226ABD010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979" y="5312619"/>
            <a:ext cx="4829210" cy="10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4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9664-0E46-F7EA-A351-ADB5D3FD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6968B5-AC15-7485-60DB-7A53A959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88D1A0-F59D-760E-6D9D-E3807391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931C93-4F93-A899-2E02-057C2BE7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8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4471FCB-261A-D64D-36C0-401D276C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</a:t>
            </a:r>
            <a:r>
              <a:rPr lang="en-GB" dirty="0" err="1"/>
              <a:t>color</a:t>
            </a:r>
            <a:r>
              <a:rPr lang="en-GB" dirty="0"/>
              <a:t> Correction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F49F3AC-64CB-819E-5231-8AA70039BCA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379247" y="2220078"/>
            <a:ext cx="3983419" cy="3958472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B4098A2-EE12-DB1E-AEEA-B6A63EDF4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913" y="2165350"/>
            <a:ext cx="4070839" cy="401319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64D511C-67DC-8B8B-A539-E80E6B0F993A}"/>
              </a:ext>
            </a:extLst>
          </p:cNvPr>
          <p:cNvSpPr txBox="1"/>
          <p:nvPr/>
        </p:nvSpPr>
        <p:spPr>
          <a:xfrm>
            <a:off x="1595237" y="1796018"/>
            <a:ext cx="35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19C006A-50B2-52BF-FFFE-9D68FF6DC578}"/>
              </a:ext>
            </a:extLst>
          </p:cNvPr>
          <p:cNvSpPr txBox="1"/>
          <p:nvPr/>
        </p:nvSpPr>
        <p:spPr>
          <a:xfrm>
            <a:off x="6948287" y="1716041"/>
            <a:ext cx="35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After </a:t>
            </a:r>
            <a:r>
              <a:rPr lang="de-DE" dirty="0" err="1"/>
              <a:t>correction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161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B924-40CF-ACA3-9BDC-02659699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FECE3C-4F88-3558-A3C8-5CAFF339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A70751-DC2C-6193-8234-91455311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C09959-27D4-5EA9-FB55-1F1545DB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0D558FC-E672-8013-945E-517FE62B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</a:t>
            </a:r>
            <a:r>
              <a:rPr lang="en-GB" dirty="0" err="1"/>
              <a:t>color</a:t>
            </a:r>
            <a:r>
              <a:rPr lang="en-GB" dirty="0"/>
              <a:t> filtering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358F89-8312-F254-A50C-EA4B0F05F6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6007095" cy="421004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Transform </a:t>
            </a:r>
            <a:r>
              <a:rPr lang="de-DE" dirty="0" err="1"/>
              <a:t>image</a:t>
            </a:r>
            <a:r>
              <a:rPr lang="de-DE" dirty="0"/>
              <a:t> in HSV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Filter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specified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thesholds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contours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specified</a:t>
            </a:r>
            <a:r>
              <a:rPr lang="de-DE" dirty="0"/>
              <a:t>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Filter </a:t>
            </a:r>
            <a:r>
              <a:rPr lang="de-DE" dirty="0" err="1"/>
              <a:t>contours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size</a:t>
            </a:r>
            <a:r>
              <a:rPr lang="de-DE" dirty="0"/>
              <a:t>, </a:t>
            </a:r>
            <a:r>
              <a:rPr lang="de-DE" dirty="0" err="1"/>
              <a:t>filling</a:t>
            </a:r>
            <a:r>
              <a:rPr lang="de-DE" dirty="0"/>
              <a:t> </a:t>
            </a:r>
            <a:r>
              <a:rPr lang="de-DE" dirty="0" err="1"/>
              <a:t>factor</a:t>
            </a:r>
            <a:r>
              <a:rPr lang="de-DE" dirty="0"/>
              <a:t>, </a:t>
            </a:r>
            <a:r>
              <a:rPr lang="de-DE" dirty="0" err="1"/>
              <a:t>squareness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attributes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object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E0A00B0-CC56-CFD8-EAB6-B444C8EB83C5}"/>
              </a:ext>
            </a:extLst>
          </p:cNvPr>
          <p:cNvPicPr>
            <a:picLocks/>
          </p:cNvPicPr>
          <p:nvPr/>
        </p:nvPicPr>
        <p:blipFill>
          <a:blip r:embed="rId3"/>
          <a:srcRect l="11666" b="3306"/>
          <a:stretch/>
        </p:blipFill>
        <p:spPr>
          <a:xfrm>
            <a:off x="6413500" y="2305050"/>
            <a:ext cx="5547552" cy="365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FCE0A-432B-0F38-A438-20CCA87A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44B3DF-E37B-D095-AA50-66C4F2CB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286DD3-77A7-60DE-FBAC-4CCB7A60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A2C7DD-683A-949E-5394-C9F2082E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10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04681F6-0627-6D20-74A9-0021F1A1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</a:t>
            </a:r>
            <a:r>
              <a:rPr lang="en-GB" dirty="0" err="1"/>
              <a:t>color</a:t>
            </a:r>
            <a:r>
              <a:rPr lang="en-GB" dirty="0"/>
              <a:t> filtering</a:t>
            </a:r>
          </a:p>
        </p:txBody>
      </p:sp>
      <p:pic>
        <p:nvPicPr>
          <p:cNvPr id="7" name="Inhaltsplatzhalter 7">
            <a:extLst>
              <a:ext uri="{FF2B5EF4-FFF2-40B4-BE49-F238E27FC236}">
                <a16:creationId xmlns:a16="http://schemas.microsoft.com/office/drawing/2014/main" id="{1A87B833-AE42-AD6C-3570-F66AE480A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27711" y="1787537"/>
            <a:ext cx="3824089" cy="380260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BC89708-011D-C7E3-E5FB-E574AFCF776D}"/>
              </a:ext>
            </a:extLst>
          </p:cNvPr>
          <p:cNvSpPr txBox="1"/>
          <p:nvPr/>
        </p:nvSpPr>
        <p:spPr>
          <a:xfrm>
            <a:off x="2983447" y="5590143"/>
            <a:ext cx="622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and </a:t>
            </a:r>
            <a:r>
              <a:rPr lang="de-DE" dirty="0" err="1"/>
              <a:t>contour</a:t>
            </a:r>
            <a:r>
              <a:rPr lang="de-DE" dirty="0"/>
              <a:t> </a:t>
            </a:r>
            <a:r>
              <a:rPr lang="de-DE" dirty="0" err="1"/>
              <a:t>filtering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634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E152-F2D2-B8A0-3F5F-37820B2C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5AFAD2-0963-70F5-4E53-A62A9E83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F04CF6-D327-6043-5CB3-BEA19E7B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3B3010-05D5-C01D-7771-36D5F63F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11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50F3045-E677-FCAF-4B48-A56673C6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Edge Filtering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E34449-7C41-BBF4-FA46-69796CA89E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mask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black</a:t>
            </a:r>
            <a:r>
              <a:rPr lang="de-DE" dirty="0"/>
              <a:t> </a:t>
            </a:r>
            <a:r>
              <a:rPr lang="de-DE" dirty="0" err="1"/>
              <a:t>pixels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Find </a:t>
            </a:r>
            <a:r>
              <a:rPr lang="de-DE" dirty="0" err="1"/>
              <a:t>contours</a:t>
            </a:r>
            <a:r>
              <a:rPr lang="de-DE" dirty="0"/>
              <a:t> in </a:t>
            </a:r>
            <a:r>
              <a:rPr lang="de-DE" dirty="0" err="1"/>
              <a:t>mask</a:t>
            </a:r>
            <a:r>
              <a:rPr lang="de-DE" dirty="0"/>
              <a:t> </a:t>
            </a:r>
            <a:r>
              <a:rPr lang="de-DE" dirty="0" err="1"/>
              <a:t>image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Filter </a:t>
            </a:r>
            <a:r>
              <a:rPr lang="de-DE" dirty="0" err="1"/>
              <a:t>contours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area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contour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2ECA3EA-735D-A121-B87F-90ED682DC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152" y="1676384"/>
            <a:ext cx="4243398" cy="420366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685DE71-6CDC-0FCB-6B0D-D54AEAD25437}"/>
              </a:ext>
            </a:extLst>
          </p:cNvPr>
          <p:cNvSpPr txBox="1"/>
          <p:nvPr/>
        </p:nvSpPr>
        <p:spPr>
          <a:xfrm>
            <a:off x="6311101" y="5877179"/>
            <a:ext cx="622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contour</a:t>
            </a:r>
            <a:r>
              <a:rPr lang="de-DE" dirty="0"/>
              <a:t> </a:t>
            </a:r>
            <a:r>
              <a:rPr lang="de-DE" dirty="0" err="1"/>
              <a:t>filtering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1010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EF07-2B38-69DD-7352-19D2A4E1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4BFFD21-FD51-4672-61C3-8A2FB9D3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1C68BC-54EE-04D4-4FAF-C068B04F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03CEFE-5AF1-C694-C455-FBBE99CA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58C9418-7637-4585-2B93-8580825B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grid position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2AC555-7016-5F0F-AF7D-731F3ADEAD7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 err="1"/>
              <a:t>Sort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 in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rows</a:t>
            </a:r>
            <a:r>
              <a:rPr lang="de-DE" dirty="0"/>
              <a:t> and </a:t>
            </a:r>
            <a:r>
              <a:rPr lang="de-DE" dirty="0" err="1"/>
              <a:t>colums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in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group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3AD2FA1-BC19-677F-6921-A94C7732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7" t="35370" r="27754" b="22408"/>
          <a:stretch/>
        </p:blipFill>
        <p:spPr>
          <a:xfrm>
            <a:off x="7499350" y="2609543"/>
            <a:ext cx="3401357" cy="33499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88809C3-705A-844D-D632-7845663CF258}"/>
              </a:ext>
            </a:extLst>
          </p:cNvPr>
          <p:cNvSpPr txBox="1"/>
          <p:nvPr/>
        </p:nvSpPr>
        <p:spPr>
          <a:xfrm>
            <a:off x="7499350" y="5959475"/>
            <a:ext cx="368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Numbered grid with all fields</a:t>
            </a:r>
          </a:p>
        </p:txBody>
      </p:sp>
    </p:spTree>
    <p:extLst>
      <p:ext uri="{BB962C8B-B14F-4D97-AF65-F5344CB8AC3E}">
        <p14:creationId xmlns:p14="http://schemas.microsoft.com/office/powerpoint/2010/main" val="3052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BF3D-A210-5FCE-3CCC-05C56B89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D443C0-739A-4D9C-1253-E2E56941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64CCC7-FC7D-E43A-E70E-F3ED1AC5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635F7A-A3C4-FB97-014D-9B21A6A3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34ACD81-3479-F125-3649-89270450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Merging of results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9776260-445B-029C-76DD-83D706B9603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Iterate through the grid positions and look for entries in dictionaries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If available in both </a:t>
            </a:r>
            <a:r>
              <a:rPr lang="en-GB" dirty="0" err="1"/>
              <a:t>dicts</a:t>
            </a:r>
            <a:r>
              <a:rPr lang="en-GB" dirty="0"/>
              <a:t>: Merge with a factorized mean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If grid position only available in one </a:t>
            </a:r>
            <a:r>
              <a:rPr lang="en-GB" dirty="0" err="1"/>
              <a:t>dict</a:t>
            </a:r>
            <a:r>
              <a:rPr lang="en-GB" dirty="0"/>
              <a:t>: Take that entry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If grid position isn‘t available in any </a:t>
            </a:r>
            <a:r>
              <a:rPr lang="en-GB" dirty="0" err="1"/>
              <a:t>dict</a:t>
            </a:r>
            <a:r>
              <a:rPr lang="en-GB" dirty="0"/>
              <a:t>: compensate through geometry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8F12D4A-F41B-8F05-A30B-1B55478F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41" y="4336041"/>
            <a:ext cx="2082012" cy="204338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DAE0135-963A-1CC1-C8EB-704622044BA3}"/>
              </a:ext>
            </a:extLst>
          </p:cNvPr>
          <p:cNvSpPr txBox="1"/>
          <p:nvPr/>
        </p:nvSpPr>
        <p:spPr>
          <a:xfrm>
            <a:off x="2928153" y="5456097"/>
            <a:ext cx="1963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object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27744DA-983B-9E4A-A33B-50E461199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334" y="4328968"/>
            <a:ext cx="2082012" cy="204692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A64EF9D-DD90-4D19-F9A6-CFFD7A8B608E}"/>
              </a:ext>
            </a:extLst>
          </p:cNvPr>
          <p:cNvSpPr txBox="1"/>
          <p:nvPr/>
        </p:nvSpPr>
        <p:spPr>
          <a:xfrm>
            <a:off x="7411253" y="5411835"/>
            <a:ext cx="1963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object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7615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CE20-D2B9-AEA4-2965-2A26452D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9A2329-CD43-6319-7F04-112AD8BA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313F03-A8D4-CD79-36B6-CDB00B41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F4D873-290A-7F00-8F39-E33DA7DB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115360E-FB70-9032-05E9-1DD63641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compensation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D45A6E-1665-61E6-21A1-37033EB8BF1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Mean x and y groups with three elements each</a:t>
            </a:r>
          </a:p>
          <a:p>
            <a:r>
              <a:rPr lang="en-GB" dirty="0"/>
              <a:t>Look for missing grid position and create </a:t>
            </a:r>
            <a:r>
              <a:rPr lang="en-GB" dirty="0" err="1"/>
              <a:t>dict</a:t>
            </a:r>
            <a:r>
              <a:rPr lang="en-GB" dirty="0"/>
              <a:t> entry based on centre points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FE41F69-A757-98A7-01D7-6F4E6D96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" t="35648" r="82449" b="34444"/>
          <a:stretch/>
        </p:blipFill>
        <p:spPr>
          <a:xfrm>
            <a:off x="4995914" y="3170283"/>
            <a:ext cx="2221969" cy="22428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B06C9-121F-E3C3-A6F3-1843E2CA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" t="70094" r="82397" b="1018"/>
          <a:stretch/>
        </p:blipFill>
        <p:spPr>
          <a:xfrm>
            <a:off x="1348444" y="3170285"/>
            <a:ext cx="2299026" cy="224155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2499515-3C6B-905A-68E2-EBA25D901B0A}"/>
              </a:ext>
            </a:extLst>
          </p:cNvPr>
          <p:cNvSpPr txBox="1"/>
          <p:nvPr/>
        </p:nvSpPr>
        <p:spPr>
          <a:xfrm>
            <a:off x="1232047" y="5463893"/>
            <a:ext cx="2415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223243E-447D-A80B-1A68-C6A31EAFA277}"/>
              </a:ext>
            </a:extLst>
          </p:cNvPr>
          <p:cNvSpPr txBox="1"/>
          <p:nvPr/>
        </p:nvSpPr>
        <p:spPr>
          <a:xfrm>
            <a:off x="4921632" y="5448300"/>
            <a:ext cx="2346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object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59C426-6E6A-669D-DCA6-A2002D5F6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7" t="35370" r="27754" b="22408"/>
          <a:stretch/>
        </p:blipFill>
        <p:spPr>
          <a:xfrm>
            <a:off x="8566327" y="3169035"/>
            <a:ext cx="2277229" cy="22428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58231604-3DE5-FDA3-2F32-86D15AF826A4}"/>
              </a:ext>
            </a:extLst>
          </p:cNvPr>
          <p:cNvSpPr txBox="1"/>
          <p:nvPr/>
        </p:nvSpPr>
        <p:spPr>
          <a:xfrm>
            <a:off x="8531626" y="5463893"/>
            <a:ext cx="2612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Final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all </a:t>
            </a:r>
            <a:r>
              <a:rPr lang="de-DE" dirty="0" err="1"/>
              <a:t>objects</a:t>
            </a:r>
            <a:r>
              <a:rPr lang="de-DE" dirty="0"/>
              <a:t> (</a:t>
            </a:r>
            <a:r>
              <a:rPr lang="de-DE" dirty="0" err="1"/>
              <a:t>compensated</a:t>
            </a:r>
            <a:r>
              <a:rPr lang="de-DE" dirty="0"/>
              <a:t> </a:t>
            </a:r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tile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926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B932-08C0-673B-B4DF-3E1EF730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9E7C61-E8F4-804E-7CA7-1CFD4F42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F808F-A7D0-B1F7-5F26-D9C36FD1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02ECE7-DE59-E91F-0987-441B74C1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15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31BD814-CF8F-07B4-22C5-CE01ACE6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4" y="898525"/>
            <a:ext cx="11480796" cy="480853"/>
          </a:xfrm>
        </p:spPr>
        <p:txBody>
          <a:bodyPr/>
          <a:lstStyle/>
          <a:p>
            <a:r>
              <a:rPr lang="en-GB" dirty="0"/>
              <a:t>Process Description – Backwards </a:t>
            </a:r>
            <a:r>
              <a:rPr lang="en-GB" dirty="0" err="1"/>
              <a:t>color</a:t>
            </a:r>
            <a:r>
              <a:rPr lang="en-GB" dirty="0"/>
              <a:t> det.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64CA8A-10E4-0217-22C2-821C63E2EC1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4" y="2033591"/>
            <a:ext cx="11550645" cy="4210049"/>
          </a:xfrm>
        </p:spPr>
        <p:txBody>
          <a:bodyPr/>
          <a:lstStyle/>
          <a:p>
            <a:r>
              <a:rPr lang="en-GB" dirty="0" err="1"/>
              <a:t>Color</a:t>
            </a:r>
            <a:r>
              <a:rPr lang="en-GB" dirty="0"/>
              <a:t> detection if object detected by Edge detection or Compensation, not by </a:t>
            </a:r>
            <a:r>
              <a:rPr lang="en-GB" dirty="0" err="1"/>
              <a:t>color</a:t>
            </a:r>
            <a:r>
              <a:rPr lang="en-GB" dirty="0"/>
              <a:t> filtering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Get </a:t>
            </a:r>
            <a:r>
              <a:rPr lang="en-GB" dirty="0" err="1"/>
              <a:t>color</a:t>
            </a:r>
            <a:r>
              <a:rPr lang="en-GB" dirty="0"/>
              <a:t> values in a rectangle around the focus point of found objects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Compare to extended specified </a:t>
            </a:r>
            <a:r>
              <a:rPr lang="en-GB" dirty="0" err="1"/>
              <a:t>color</a:t>
            </a:r>
            <a:r>
              <a:rPr lang="en-GB" dirty="0"/>
              <a:t> thresholds, no more filtering by size, filling factor,…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9AE9BC8-7280-1265-3D14-9DCB457B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537"/>
          <a:stretch/>
        </p:blipFill>
        <p:spPr>
          <a:xfrm>
            <a:off x="6711734" y="3892550"/>
            <a:ext cx="2436878" cy="238902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90421D3-832C-E10D-C37D-422BAE9E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537"/>
          <a:stretch/>
        </p:blipFill>
        <p:spPr>
          <a:xfrm>
            <a:off x="1320800" y="3828728"/>
            <a:ext cx="2526431" cy="247682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E023EDB-28F5-127B-4DB8-7879F3E1E91F}"/>
              </a:ext>
            </a:extLst>
          </p:cNvPr>
          <p:cNvSpPr txBox="1"/>
          <p:nvPr/>
        </p:nvSpPr>
        <p:spPr>
          <a:xfrm>
            <a:off x="3847231" y="5382220"/>
            <a:ext cx="2415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Mask</a:t>
            </a:r>
            <a:r>
              <a:rPr lang="de-DE" dirty="0"/>
              <a:t> after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A7BEFE7-44E7-D8A5-AF83-80C3D15F30AA}"/>
              </a:ext>
            </a:extLst>
          </p:cNvPr>
          <p:cNvSpPr txBox="1"/>
          <p:nvPr/>
        </p:nvSpPr>
        <p:spPr>
          <a:xfrm>
            <a:off x="9148612" y="5382220"/>
            <a:ext cx="2415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Small ROIs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middle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tiles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color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3009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9E16-7FAA-B59B-2A3F-B1BB1F9C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A440EB-F1B4-FDDC-7C95-435524D2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726FFF-A9A6-3840-1649-2B37D6C3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246271-CDF4-F728-E248-491FD899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16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2CA2323-D199-DF10-3E49-87252A94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Result / Output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1DD37E-1EA0-1FC5-F416-58834EEADA0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Output: Merged dictionary with nine </a:t>
            </a:r>
            <a:r>
              <a:rPr lang="en-GB" dirty="0" err="1"/>
              <a:t>entrys</a:t>
            </a:r>
            <a:r>
              <a:rPr lang="en-GB" dirty="0"/>
              <a:t> with six keys 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Bounding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Focus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Color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Grid position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Average hue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Detected 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0B404BB-70E4-8FAC-2DC5-36A1A9707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51" y="2750762"/>
            <a:ext cx="8150380" cy="35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3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8BA5-D5EC-4E06-CB73-A8D781DF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886DD3-F157-72B6-422C-B6A639F2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C3C4A4-DB4B-092A-A8DD-4B893EB0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3760DF-9596-C30C-9C45-1914DED6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17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811AFCB-FBEF-DE01-3C80-11188C69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Description – Result / Output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3962DC0-4AF2-6106-E3C3-B6321797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76" y="1480978"/>
            <a:ext cx="8217602" cy="491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9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C1B6-43EE-7414-4818-FF38B9A2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9858AB-21C2-8C87-9622-13F243E1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3EEB40-DFD3-05CB-3EE5-FF9FA1C3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D95432-D870-89FC-8F98-B64BCBA5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18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9CAC66E-6C86-3BAB-E9EE-A599162E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via recorded Pictures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D6B53D-6EBC-B5B2-9B0E-0C9F53E374F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Bilder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verschiedenen</a:t>
            </a:r>
            <a:r>
              <a:rPr lang="en-GB" dirty="0"/>
              <a:t> </a:t>
            </a:r>
            <a:r>
              <a:rPr lang="en-GB" dirty="0" err="1"/>
              <a:t>Farbeinflüssen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19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E13122-77CE-23A0-04BD-5B657387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C457BB-D15C-68C2-FEBC-3B49C221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BBA342-FD4D-0504-D1F3-96674E3D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1412B19-1D64-3A22-00E2-653B42E2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Limits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39FA65-A9C1-66FD-ADE4-EBCD885E7B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not work when the cube is rotated in the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Orange and red color areas are very close to each other, risk of confusion in the border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Color correction reaches its limits with excessive color deviations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Detection of the grey frame not always exactly at its edge (shadows, angle to the camera)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inaccurate color correction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8572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E6F8A5-277B-47CF-F4ED-BBD90B19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85F728-4F93-60F6-DFF4-59788ACF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Robot Vision | Automotive Systems Engineering |  WS 24/25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205409-F515-6631-8E23-8ECD54EC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20</a:t>
            </a:fld>
            <a:endParaRPr lang="de-DE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A65D80D3-183A-C265-94AD-4DD98343CE0E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Vertikaler Textplatzhalter 5">
            <a:extLst>
              <a:ext uri="{FF2B5EF4-FFF2-40B4-BE49-F238E27FC236}">
                <a16:creationId xmlns:a16="http://schemas.microsoft.com/office/drawing/2014/main" id="{58BBA42D-F569-2C1D-D35A-D0E95E471CA2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/>
        <p:txBody>
          <a:bodyPr/>
          <a:lstStyle/>
          <a:p>
            <a:r>
              <a:rPr lang="en-GB" dirty="0"/>
              <a:t>Thanks for your Attention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CF3449C-AC89-B61B-CD7C-CEB6A526F2EB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727695"/>
      </p:ext>
    </p:extLst>
  </p:cSld>
  <p:clrMapOvr>
    <a:masterClrMapping/>
  </p:clrMapOvr>
</p:sld>
</file>

<file path=ppt/theme/theme1.xml><?xml version="1.0" encoding="utf-8"?>
<a:theme xmlns:a="http://schemas.openxmlformats.org/drawingml/2006/main" name="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Microsoft Office PowerPoint</Application>
  <PresentationFormat>Breitbild</PresentationFormat>
  <Paragraphs>164</Paragraphs>
  <Slides>20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Verdana</vt:lpstr>
      <vt:lpstr>Wingdings</vt:lpstr>
      <vt:lpstr>PPT_HHN_16x9_DE_02</vt:lpstr>
      <vt:lpstr>Computer and Robot vision</vt:lpstr>
      <vt:lpstr>Agenda</vt:lpstr>
      <vt:lpstr>Project description </vt:lpstr>
      <vt:lpstr>Challanges</vt:lpstr>
      <vt:lpstr>Process description - Flow Chart</vt:lpstr>
      <vt:lpstr>Process Description – grey frame detection</vt:lpstr>
      <vt:lpstr>Process Description – color Correction</vt:lpstr>
      <vt:lpstr>Process Description – color Correction</vt:lpstr>
      <vt:lpstr>Process Description – color filtering</vt:lpstr>
      <vt:lpstr>Process Description – color filtering</vt:lpstr>
      <vt:lpstr>Process Description – Edge Filtering</vt:lpstr>
      <vt:lpstr>Process Description – grid position</vt:lpstr>
      <vt:lpstr>Process Description – Merging of results</vt:lpstr>
      <vt:lpstr>Process Description – compensation</vt:lpstr>
      <vt:lpstr>Process Description – Backwards color det.</vt:lpstr>
      <vt:lpstr>Process Description – Result / Output</vt:lpstr>
      <vt:lpstr>Process Description – Result / Output</vt:lpstr>
      <vt:lpstr>Demo via recorded Pictures</vt:lpstr>
      <vt:lpstr>Limits of the system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ProjektLabor Elektronische Systeme</dc:title>
  <dc:creator>Christian Schwaninger</dc:creator>
  <cp:lastModifiedBy>Gerstlauer, Lukas</cp:lastModifiedBy>
  <cp:revision>29</cp:revision>
  <dcterms:modified xsi:type="dcterms:W3CDTF">2025-01-13T16:16:53Z</dcterms:modified>
</cp:coreProperties>
</file>